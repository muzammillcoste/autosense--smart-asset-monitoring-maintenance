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9" r:id="rId6"/>
    <p:sldId id="263" r:id="rId7"/>
    <p:sldId id="264" r:id="rId8"/>
    <p:sldId id="260" r:id="rId9"/>
    <p:sldId id="280" r:id="rId10"/>
    <p:sldId id="281" r:id="rId11"/>
    <p:sldId id="282" r:id="rId12"/>
    <p:sldId id="284" r:id="rId13"/>
    <p:sldId id="283" r:id="rId14"/>
    <p:sldId id="275" r:id="rId15"/>
    <p:sldId id="276" r:id="rId16"/>
    <p:sldId id="277" r:id="rId17"/>
    <p:sldId id="288" r:id="rId18"/>
    <p:sldId id="278" r:id="rId19"/>
    <p:sldId id="279" r:id="rId20"/>
    <p:sldId id="289" r:id="rId21"/>
    <p:sldId id="290" r:id="rId22"/>
    <p:sldId id="291" r:id="rId23"/>
    <p:sldId id="292" r:id="rId24"/>
    <p:sldId id="293" r:id="rId25"/>
    <p:sldId id="294" r:id="rId26"/>
    <p:sldId id="285" r:id="rId27"/>
    <p:sldId id="287" r:id="rId28"/>
    <p:sldId id="286" r:id="rId29"/>
    <p:sldId id="261" r:id="rId30"/>
    <p:sldId id="271" r:id="rId31"/>
    <p:sldId id="272" r:id="rId32"/>
    <p:sldId id="273" r:id="rId33"/>
    <p:sldId id="274" r:id="rId34"/>
    <p:sldId id="265" r:id="rId35"/>
    <p:sldId id="268" r:id="rId36"/>
    <p:sldId id="266" r:id="rId37"/>
    <p:sldId id="267" r:id="rId38"/>
  </p:sldIdLst>
  <p:sldSz cx="9144000" cy="5143500" type="screen16x9"/>
  <p:notesSz cx="6858000" cy="9144000"/>
  <p:embeddedFontLst>
    <p:embeddedFont>
      <p:font typeface="Arvo" panose="020B0604020202020204" charset="0"/>
      <p:regular r:id="rId40"/>
      <p:bold r:id="rId41"/>
      <p:italic r:id="rId42"/>
      <p:boldItalic r:id="rId43"/>
    </p:embeddedFon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Cambria" panose="02040503050406030204" pitchFamily="18" charset="0"/>
      <p:regular r:id="rId48"/>
      <p:bold r:id="rId49"/>
      <p:italic r:id="rId50"/>
      <p:boldItalic r:id="rId51"/>
    </p:embeddedFont>
    <p:embeddedFont>
      <p:font typeface="Noto Sans Symbols" pitchFamily="2" charset="0"/>
      <p:regular r:id="rId52"/>
      <p:bold r:id="rId53"/>
    </p:embeddedFont>
    <p:embeddedFont>
      <p:font typeface="Roboto Condensed" panose="02000000000000000000" pitchFamily="2" charset="0"/>
      <p:regular r:id="rId54"/>
      <p:bold r:id="rId55"/>
      <p:italic r:id="rId56"/>
      <p:boldItalic r:id="rId57"/>
    </p:embeddedFont>
    <p:embeddedFont>
      <p:font typeface="Roboto Condensed Light" panose="02000000000000000000" pitchFamily="2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glK51JUJfIA+BJi6zKwyz8n1l+2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haj Raza" initials="WR" lastIdx="1" clrIdx="0">
    <p:extLst>
      <p:ext uri="{19B8F6BF-5375-455C-9EA6-DF929625EA0E}">
        <p15:presenceInfo xmlns:p15="http://schemas.microsoft.com/office/powerpoint/2012/main" userId="Wahaj Raz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font" Target="fonts/font19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2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59" Type="http://schemas.openxmlformats.org/officeDocument/2006/relationships/font" Target="fonts/font20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font" Target="fonts/font21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sama\Downloads\AI%20ml%20part%20was%20done%20in%20march%20and%20then%20ERP%20part%20af...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384906270602429"/>
          <c:y val="0.10873015873015873"/>
          <c:w val="0.54731213693075098"/>
          <c:h val="0.846349206349206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'AI ml part was done in march an'!$C$1</c:f>
              <c:strCache>
                <c:ptCount val="1"/>
                <c:pt idx="0">
                  <c:v>Start Date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E94-4844-BA04-C5DAB3B69325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E94-4844-BA04-C5DAB3B69325}"/>
              </c:ext>
            </c:extLst>
          </c:dPt>
          <c:dPt>
            <c:idx val="2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E94-4844-BA04-C5DAB3B69325}"/>
              </c:ext>
            </c:extLst>
          </c:dPt>
          <c:dPt>
            <c:idx val="3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E94-4844-BA04-C5DAB3B69325}"/>
              </c:ext>
            </c:extLst>
          </c:dPt>
          <c:dPt>
            <c:idx val="4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E94-4844-BA04-C5DAB3B69325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E94-4844-BA04-C5DAB3B69325}"/>
              </c:ext>
            </c:extLst>
          </c:dPt>
          <c:dPt>
            <c:idx val="6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E94-4844-BA04-C5DAB3B69325}"/>
              </c:ext>
            </c:extLst>
          </c:dPt>
          <c:dPt>
            <c:idx val="7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E94-4844-BA04-C5DAB3B69325}"/>
              </c:ext>
            </c:extLst>
          </c:dPt>
          <c:dPt>
            <c:idx val="8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E94-4844-BA04-C5DAB3B69325}"/>
              </c:ext>
            </c:extLst>
          </c:dPt>
          <c:dPt>
            <c:idx val="9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E94-4844-BA04-C5DAB3B69325}"/>
              </c:ext>
            </c:extLst>
          </c:dPt>
          <c:dPt>
            <c:idx val="10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E94-4844-BA04-C5DAB3B69325}"/>
              </c:ext>
            </c:extLst>
          </c:dPt>
          <c:dPt>
            <c:idx val="1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E94-4844-BA04-C5DAB3B69325}"/>
              </c:ext>
            </c:extLst>
          </c:dPt>
          <c:dPt>
            <c:idx val="12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E94-4844-BA04-C5DAB3B69325}"/>
              </c:ext>
            </c:extLst>
          </c:dPt>
          <c:dPt>
            <c:idx val="13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E94-4844-BA04-C5DAB3B69325}"/>
              </c:ext>
            </c:extLst>
          </c:dPt>
          <c:dPt>
            <c:idx val="14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E94-4844-BA04-C5DAB3B69325}"/>
              </c:ext>
            </c:extLst>
          </c:dPt>
          <c:dPt>
            <c:idx val="15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E94-4844-BA04-C5DAB3B69325}"/>
              </c:ext>
            </c:extLst>
          </c:dPt>
          <c:dPt>
            <c:idx val="16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E94-4844-BA04-C5DAB3B69325}"/>
              </c:ext>
            </c:extLst>
          </c:dPt>
          <c:cat>
            <c:multiLvlStrRef>
              <c:f>'AI ml part was done in march an'!$A$2:$B$18</c:f>
              <c:multiLvlStrCache>
                <c:ptCount val="17"/>
                <c:lvl>
                  <c:pt idx="0">
                    <c:v>(Completed)</c:v>
                  </c:pt>
                  <c:pt idx="1">
                    <c:v>Learning of Swift platform</c:v>
                  </c:pt>
                  <c:pt idx="2">
                    <c:v>Research and Development of IoT sensors</c:v>
                  </c:pt>
                  <c:pt idx="3">
                    <c:v>Prepare complete Design Flow for the Swift app</c:v>
                  </c:pt>
                  <c:pt idx="4">
                    <c:v>Mechanism for Sensor Data Simulation</c:v>
                  </c:pt>
                  <c:pt idx="5">
                    <c:v>Interface creation of Swift app</c:v>
                  </c:pt>
                  <c:pt idx="6">
                    <c:v>Realtime Dashboard Data Flow</c:v>
                  </c:pt>
                  <c:pt idx="7">
                    <c:v>Alerts generation for anomalies</c:v>
                  </c:pt>
                  <c:pt idx="9">
                    <c:v>Hardware Integration &amp; Device Connectivity</c:v>
                  </c:pt>
                  <c:pt idx="10">
                    <c:v>AI/ML Predictive Models Development &amp; Training</c:v>
                  </c:pt>
                  <c:pt idx="11">
                    <c:v>ERP (Salesforce) Integration &amp; Workflow Automation</c:v>
                  </c:pt>
                  <c:pt idx="13">
                    <c:v>Full Solution Integration (Hardware + AI + ERP)</c:v>
                  </c:pt>
                  <c:pt idx="14">
                    <c:v>Comprehensive System Testing &amp; Validation</c:v>
                  </c:pt>
                  <c:pt idx="15">
                    <c:v>Documentation (Final Report &amp; Research Paper)</c:v>
                  </c:pt>
                  <c:pt idx="16">
                    <c:v>Demo Preparation &amp; Final Launch/Presentation</c:v>
                  </c:pt>
                </c:lvl>
                <c:lvl>
                  <c:pt idx="0">
                    <c:v>Phase 1: Foundation &amp; Initial Development</c:v>
                  </c:pt>
                  <c:pt idx="8">
                    <c:v>Phase 2: Core Component Implementation</c:v>
                  </c:pt>
                  <c:pt idx="12">
                    <c:v>Phase 3: System Integration, Testing &amp; Finalization</c:v>
                  </c:pt>
                </c:lvl>
              </c:multiLvlStrCache>
            </c:multiLvlStrRef>
          </c:cat>
          <c:val>
            <c:numRef>
              <c:f>'AI ml part was done in march an'!$C$2:$C$18</c:f>
              <c:numCache>
                <c:formatCode>d\-mmm</c:formatCode>
                <c:ptCount val="17"/>
                <c:pt idx="0">
                  <c:v>45561</c:v>
                </c:pt>
                <c:pt idx="1">
                  <c:v>45568</c:v>
                </c:pt>
                <c:pt idx="2">
                  <c:v>45582</c:v>
                </c:pt>
                <c:pt idx="3">
                  <c:v>45603</c:v>
                </c:pt>
                <c:pt idx="4">
                  <c:v>45610</c:v>
                </c:pt>
                <c:pt idx="5">
                  <c:v>45617</c:v>
                </c:pt>
                <c:pt idx="6">
                  <c:v>45624</c:v>
                </c:pt>
                <c:pt idx="7">
                  <c:v>45631</c:v>
                </c:pt>
                <c:pt idx="8">
                  <c:v>45663</c:v>
                </c:pt>
                <c:pt idx="9">
                  <c:v>45663</c:v>
                </c:pt>
                <c:pt idx="10">
                  <c:v>45691</c:v>
                </c:pt>
                <c:pt idx="11">
                  <c:v>45740</c:v>
                </c:pt>
                <c:pt idx="12">
                  <c:v>45768</c:v>
                </c:pt>
                <c:pt idx="13">
                  <c:v>45768</c:v>
                </c:pt>
                <c:pt idx="14">
                  <c:v>45782</c:v>
                </c:pt>
                <c:pt idx="15">
                  <c:v>45775</c:v>
                </c:pt>
                <c:pt idx="16">
                  <c:v>45796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FE94-4844-BA04-C5DAB3B69325}"/>
            </c:ext>
          </c:extLst>
        </c:ser>
        <c:ser>
          <c:idx val="1"/>
          <c:order val="1"/>
          <c:tx>
            <c:strRef>
              <c:f>'AI ml part was done in march an'!$E$1</c:f>
              <c:strCache>
                <c:ptCount val="1"/>
                <c:pt idx="0">
                  <c:v>Duration (Weeks)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4-FE94-4844-BA04-C5DAB3B69325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6-FE94-4844-BA04-C5DAB3B69325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FE94-4844-BA04-C5DAB3B69325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FE94-4844-BA04-C5DAB3B69325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FE94-4844-BA04-C5DAB3B69325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FE94-4844-BA04-C5DAB3B69325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FE94-4844-BA04-C5DAB3B69325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FE94-4844-BA04-C5DAB3B69325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FE94-4844-BA04-C5DAB3B69325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FE94-4844-BA04-C5DAB3B69325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FE94-4844-BA04-C5DAB3B69325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FE94-4844-BA04-C5DAB3B69325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FE94-4844-BA04-C5DAB3B69325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FE94-4844-BA04-C5DAB3B69325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FE94-4844-BA04-C5DAB3B69325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FE94-4844-BA04-C5DAB3B69325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FE94-4844-BA04-C5DAB3B69325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FE94-4844-BA04-C5DAB3B69325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FE94-4844-BA04-C5DAB3B69325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FE94-4844-BA04-C5DAB3B6932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'AI ml part was done in march an'!$E$2:$E$18</c:f>
              <c:numCache>
                <c:formatCode>General</c:formatCode>
                <c:ptCount val="17"/>
                <c:pt idx="0">
                  <c:v>85</c:v>
                </c:pt>
                <c:pt idx="1">
                  <c:v>14</c:v>
                </c:pt>
                <c:pt idx="2">
                  <c:v>21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14</c:v>
                </c:pt>
                <c:pt idx="8">
                  <c:v>105</c:v>
                </c:pt>
                <c:pt idx="9">
                  <c:v>28</c:v>
                </c:pt>
                <c:pt idx="10">
                  <c:v>49</c:v>
                </c:pt>
                <c:pt idx="11">
                  <c:v>28</c:v>
                </c:pt>
                <c:pt idx="12">
                  <c:v>42</c:v>
                </c:pt>
                <c:pt idx="13">
                  <c:v>21</c:v>
                </c:pt>
                <c:pt idx="14">
                  <c:v>21</c:v>
                </c:pt>
                <c:pt idx="15">
                  <c:v>28</c:v>
                </c:pt>
                <c:pt idx="16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7-FE94-4844-BA04-C5DAB3B693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28775871"/>
        <c:axId val="1134197103"/>
      </c:barChart>
      <c:catAx>
        <c:axId val="102877587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4197103"/>
        <c:crosses val="autoZero"/>
        <c:auto val="1"/>
        <c:lblAlgn val="ctr"/>
        <c:lblOffset val="100"/>
        <c:noMultiLvlLbl val="0"/>
      </c:catAx>
      <c:valAx>
        <c:axId val="1134197103"/>
        <c:scaling>
          <c:orientation val="minMax"/>
          <c:min val="4556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d\-mmm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8775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f65f45ca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1f65f45ca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7495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9184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2427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0481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7198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7077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6451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217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7485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49489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3411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28929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496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3146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5159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7770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04612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470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65468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49220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81143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f65f45ca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1f65f45ca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50828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1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1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1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1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7" cy="6522736"/>
          </a:xfrm>
        </p:grpSpPr>
        <p:sp>
          <p:nvSpPr>
            <p:cNvPr id="15" name="Google Shape;15;p21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1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1"/>
          <p:cNvGrpSpPr/>
          <p:nvPr/>
        </p:nvGrpSpPr>
        <p:grpSpPr>
          <a:xfrm>
            <a:off x="3677236" y="4278349"/>
            <a:ext cx="5480828" cy="432996"/>
            <a:chOff x="5582265" y="4646738"/>
            <a:chExt cx="5480828" cy="432996"/>
          </a:xfrm>
        </p:grpSpPr>
        <p:sp>
          <p:nvSpPr>
            <p:cNvPr id="18" name="Google Shape;18;p21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" name="Google Shape;19;p21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1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1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" name="Google Shape;22;p21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22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25" name="Google Shape;25;p22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26" name="Google Shape;26;p22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27" name="Google Shape;27;p22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28" name="Google Shape;28;p22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29" name="Google Shape;29;p22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30" name="Google Shape;30;p22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31" name="Google Shape;31;p22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32" name="Google Shape;32;p22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3" name="Google Shape;33;p22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" name="Google Shape;34;p2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5" name="Google Shape;35;p22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2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" name="Google Shape;37;p22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8" name="Google Shape;38;p22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2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" name="Google Shape;40;p2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23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44" name="Google Shape;44;p2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45" name="Google Shape;45;p23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46" name="Google Shape;46;p23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47" name="Google Shape;47;p23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8" name="Google Shape;48;p23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49" name="Google Shape;49;p23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50" name="Google Shape;50;p23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1" name="Google Shape;51;p2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52" name="Google Shape;52;p2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" name="Google Shape;53;p2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54" name="Google Shape;54;p2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" name="Google Shape;56;p2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57" name="Google Shape;57;p2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24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65" name="Google Shape;65;p2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" name="Google Shape;66;p2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7" name="Google Shape;67;p2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2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" name="Google Shape;69;p2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0" name="Google Shape;70;p2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2" name="Google Shape;72;p2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73" name="Google Shape;73;p2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4" name="Google Shape;74;p2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5" name="Google Shape;75;p2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2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77;p2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8" name="Google Shape;78;p2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2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" name="Google Shape;80;p2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2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83" name="Google Shape;83;p2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" name="Google Shape;84;p2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85" name="Google Shape;85;p2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2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88" name="Google Shape;88;p2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0" name="Google Shape;90;p2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91" name="Google Shape;91;p2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92" name="Google Shape;92;p2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93" name="Google Shape;93;p2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94" name="Google Shape;94;p2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95" name="Google Shape;95;p2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96" name="Google Shape;96;p2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97" name="Google Shape;97;p2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98" name="Google Shape;98;p2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03" name="Google Shape;103;p26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04" name="Google Shape;104;p26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6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06" name="Google Shape;106;p26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107" name="Google Shape;107;p26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08" name="Google Shape;108;p26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09" name="Google Shape;109;p2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10" name="Google Shape;110;p2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" name="Google Shape;111;p2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12" name="Google Shape;112;p2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" name="Google Shape;114;p2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15" name="Google Shape;115;p2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7" name="Google Shape;117;p26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8" name="Google Shape;118;p26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>
            <a:spLocks noGrp="1"/>
          </p:cNvSpPr>
          <p:nvPr>
            <p:ph type="ctrTitle"/>
          </p:nvPr>
        </p:nvSpPr>
        <p:spPr>
          <a:xfrm>
            <a:off x="5" y="1319888"/>
            <a:ext cx="6037800" cy="25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Asset Tracking and Predictive Maintenance System for Flight Catering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  : 20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Advisor ~ Dr Shahab Tehzeeb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F3F726-348F-4381-8FBB-329F0B7BE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680" y="3334871"/>
            <a:ext cx="688643" cy="694044"/>
          </a:xfrm>
          <a:prstGeom prst="rect">
            <a:avLst/>
          </a:prstGeom>
        </p:spPr>
      </p:pic>
      <p:pic>
        <p:nvPicPr>
          <p:cNvPr id="1026" name="Picture 2" descr="Ephlux - Connected Customer Experience | JD Edwards | Internet of Things |  Machine Learning | Industry 4.0">
            <a:extLst>
              <a:ext uri="{FF2B5EF4-FFF2-40B4-BE49-F238E27FC236}">
                <a16:creationId xmlns:a16="http://schemas.microsoft.com/office/drawing/2014/main" id="{DE6A0D97-7CAD-49E8-8D0E-E94383BAE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671" y="3272400"/>
            <a:ext cx="817988" cy="81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p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474662" y="1897954"/>
            <a:ext cx="1961178" cy="1767330"/>
          </a:xfrm>
          <a:prstGeom prst="rect">
            <a:avLst/>
          </a:prstGeom>
          <a:solidFill>
            <a:srgbClr val="E8EDF3"/>
          </a:solidFill>
          <a:ln w="25400" cap="flat" cmpd="sng">
            <a:solidFill>
              <a:srgbClr val="2D3C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Font typeface="Arial"/>
              <a:buNone/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WAHAJ RAZA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</a:t>
            </a:r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21055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CGPA  : 3.</a:t>
            </a:r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96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2576713" y="1897955"/>
            <a:ext cx="1961177" cy="1767330"/>
          </a:xfrm>
          <a:prstGeom prst="rect">
            <a:avLst/>
          </a:prstGeom>
          <a:solidFill>
            <a:srgbClr val="E8EDF3"/>
          </a:solidFill>
          <a:ln w="25400" cap="flat" cmpd="sng">
            <a:solidFill>
              <a:srgbClr val="2D3C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FARRUKH NIAZ</a:t>
            </a:r>
          </a:p>
          <a:p>
            <a:pPr algn="ctr"/>
            <a:endParaRPr sz="16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21064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algn="ctr"/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algn="ctr"/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CGPA : 3.2 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4684699" y="1897956"/>
            <a:ext cx="1961177" cy="1767329"/>
          </a:xfrm>
          <a:prstGeom prst="rect">
            <a:avLst/>
          </a:prstGeom>
          <a:solidFill>
            <a:srgbClr val="E8EDF3"/>
          </a:solidFill>
          <a:ln w="25400" cap="flat" cmpd="sng">
            <a:solidFill>
              <a:srgbClr val="2D3C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HUZAIFA NASEER</a:t>
            </a:r>
          </a:p>
          <a:p>
            <a:pPr algn="ctr"/>
            <a:endParaRPr sz="16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21067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algn="ctr"/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algn="ctr"/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CGPA : 3.37 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800369" y="1897956"/>
            <a:ext cx="1961177" cy="1767328"/>
          </a:xfrm>
          <a:prstGeom prst="rect">
            <a:avLst/>
          </a:prstGeom>
          <a:solidFill>
            <a:srgbClr val="E8EDF3"/>
          </a:solidFill>
          <a:ln w="25400" cap="flat" cmpd="sng">
            <a:solidFill>
              <a:srgbClr val="2D3C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MUZAMMIL RIZVI</a:t>
            </a:r>
          </a:p>
          <a:p>
            <a:pPr algn="ctr"/>
            <a:b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</a:br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21089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algn="ctr"/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algn="ctr"/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CGPA  </a:t>
            </a:r>
            <a:r>
              <a:rPr lang="en-US" sz="1800" b="1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: 3.4</a:t>
            </a:r>
            <a:endParaRPr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6F9971-FD9C-41F1-8E1B-F680D360B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133" grpId="0" animBg="1"/>
      <p:bldP spid="134" grpId="0" animBg="1"/>
      <p:bldP spid="13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</p:txBody>
      </p:sp>
      <p:sp>
        <p:nvSpPr>
          <p:cNvPr id="141" name="Google Shape;1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153611" y="1366406"/>
            <a:ext cx="86856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rgbClr val="3A5172"/>
              </a:buClr>
              <a:buSzPts val="2000"/>
              <a:buFont typeface="Noto Sans Symbols"/>
              <a:buChar char="▪"/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Designed for </a:t>
            </a:r>
            <a:r>
              <a:rPr lang="en-US" sz="1600" b="1" i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flight catering vehicle fleets 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operating in high-pressure airport environments.</a:t>
            </a:r>
          </a:p>
          <a:p>
            <a:pPr marL="342900" lvl="0" indent="-342900">
              <a:lnSpc>
                <a:spcPct val="150000"/>
              </a:lnSpc>
              <a:buClr>
                <a:srgbClr val="3A5172"/>
              </a:buClr>
              <a:buSzPts val="2000"/>
              <a:buFont typeface="Noto Sans Symbols"/>
              <a:buChar char="▪"/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Addresses challenges like </a:t>
            </a:r>
            <a:r>
              <a:rPr lang="en-US" sz="1600" b="1" i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unexpected breakdowns, high maintenance costs, and lack of real-time visibility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.</a:t>
            </a:r>
          </a:p>
          <a:p>
            <a:pPr marL="342900" lvl="0" indent="-342900">
              <a:lnSpc>
                <a:spcPct val="150000"/>
              </a:lnSpc>
              <a:buClr>
                <a:srgbClr val="3A5172"/>
              </a:buClr>
              <a:buSzPts val="2000"/>
              <a:buFont typeface="Noto Sans Symbols"/>
              <a:buChar char="▪"/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Utilizes </a:t>
            </a:r>
            <a:r>
              <a:rPr lang="en-US" sz="1600" b="1" i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IoT sensors 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(GPS, TPMS, temperature) for continuous monitoring.</a:t>
            </a:r>
          </a:p>
          <a:p>
            <a:pPr marL="342900" lvl="0" indent="-342900">
              <a:lnSpc>
                <a:spcPct val="150000"/>
              </a:lnSpc>
              <a:buClr>
                <a:srgbClr val="3A5172"/>
              </a:buClr>
              <a:buSzPts val="2000"/>
              <a:buFont typeface="Noto Sans Symbols"/>
              <a:buChar char="▪"/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Employs </a:t>
            </a:r>
            <a:r>
              <a:rPr lang="en-US" sz="1600" b="1" i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AI/ML 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(Bi-LSTM) models for predictive maintenance to reduce downtime.</a:t>
            </a:r>
          </a:p>
          <a:p>
            <a:pPr marL="342900" lvl="0" indent="-342900">
              <a:lnSpc>
                <a:spcPct val="150000"/>
              </a:lnSpc>
              <a:buClr>
                <a:srgbClr val="3A5172"/>
              </a:buClr>
              <a:buSzPts val="2000"/>
              <a:buFont typeface="Noto Sans Symbols"/>
              <a:buChar char="▪"/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Integrated with Swift Platform for </a:t>
            </a:r>
            <a:r>
              <a:rPr lang="en-US" sz="1600" b="1" i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real-time dashboards 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and Salesforce ERP for </a:t>
            </a:r>
            <a:r>
              <a:rPr lang="en-US" sz="1600" b="1" i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automated ticketing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.</a:t>
            </a:r>
          </a:p>
          <a:p>
            <a:pPr marL="342900" lvl="0" indent="-342900">
              <a:lnSpc>
                <a:spcPct val="150000"/>
              </a:lnSpc>
              <a:buClr>
                <a:srgbClr val="3A5172"/>
              </a:buClr>
              <a:buSzPts val="2000"/>
              <a:buFont typeface="Noto Sans Symbols"/>
              <a:buChar char="▪"/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Aims to deliver </a:t>
            </a:r>
            <a:r>
              <a:rPr lang="en-US" sz="1600" b="1" i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operational efficiency, cost savings, and proactive maintenance 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workflows.</a:t>
            </a:r>
            <a:endParaRPr sz="1600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139BEB-D70A-424B-870E-14309AC8D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313F4F-D7C8-4534-8FDF-B7CFDDC39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28C5C2-6C5A-4ADC-9B31-D74D91045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58" y="1205829"/>
            <a:ext cx="7899009" cy="39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fontAlgn="base" latinLnBrk="0" hangingPunct="0">
              <a:lnSpc>
                <a:spcPct val="150000"/>
              </a:lnSpc>
              <a:buClr>
                <a:srgbClr val="3A5172"/>
              </a:buClr>
              <a:buSzPts val="2000"/>
              <a:buFont typeface="Noto Sans Symbols"/>
              <a:buChar char="▪"/>
              <a:tabLst/>
            </a:pPr>
            <a:r>
              <a:rPr lang="en-US" altLang="en-US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Unplanned Vehicle Downtime</a:t>
            </a:r>
            <a:br>
              <a:rPr lang="en-US" altLang="en-US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Leads to service delays and potential flight disruptions due to reactive maintenance.</a:t>
            </a:r>
          </a:p>
          <a:p>
            <a:pPr marL="342900" indent="-342900" defTabSz="914400" eaLnBrk="0" fontAlgn="base" latinLnBrk="0" hangingPunct="0">
              <a:lnSpc>
                <a:spcPct val="150000"/>
              </a:lnSpc>
              <a:buClr>
                <a:srgbClr val="3A5172"/>
              </a:buClr>
              <a:buSzPts val="2000"/>
              <a:buFont typeface="Noto Sans Symbols"/>
              <a:buChar char="▪"/>
              <a:tabLst/>
            </a:pPr>
            <a:r>
              <a:rPr lang="en-US" altLang="en-US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High Maintenance Costs</a:t>
            </a:r>
            <a:br>
              <a:rPr lang="en-US" altLang="en-US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Emergency repairs and time-based servicing increase operational expenses.</a:t>
            </a:r>
          </a:p>
          <a:p>
            <a:pPr marL="342900" indent="-342900" defTabSz="914400" eaLnBrk="0" fontAlgn="base" latinLnBrk="0" hangingPunct="0">
              <a:lnSpc>
                <a:spcPct val="150000"/>
              </a:lnSpc>
              <a:buClr>
                <a:srgbClr val="3A5172"/>
              </a:buClr>
              <a:buSzPts val="2000"/>
              <a:buFont typeface="Noto Sans Symbols"/>
              <a:buChar char="▪"/>
              <a:tabLst/>
            </a:pPr>
            <a:r>
              <a:rPr lang="en-US" altLang="en-US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Lack of Real-Time Asset Visibility</a:t>
            </a:r>
            <a:br>
              <a:rPr lang="en-US" altLang="en-US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No continuous monitoring of vehicle location, </a:t>
            </a:r>
            <a:r>
              <a:rPr lang="en-US" altLang="en-US" dirty="0" err="1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tyre</a:t>
            </a:r>
            <a:r>
              <a:rPr lang="en-US" altLang="en-US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pressure, or engine health.</a:t>
            </a:r>
          </a:p>
          <a:p>
            <a:pPr marL="342900" indent="-342900" defTabSz="914400" eaLnBrk="0" fontAlgn="base" latinLnBrk="0" hangingPunct="0">
              <a:lnSpc>
                <a:spcPct val="150000"/>
              </a:lnSpc>
              <a:buClr>
                <a:srgbClr val="3A5172"/>
              </a:buClr>
              <a:buSzPts val="2000"/>
              <a:buFont typeface="Noto Sans Symbols"/>
              <a:buChar char="▪"/>
              <a:tabLst/>
            </a:pPr>
            <a:r>
              <a:rPr lang="en-US" altLang="en-US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Inefficient Maintenance Workflows</a:t>
            </a:r>
            <a:br>
              <a:rPr lang="en-US" altLang="en-US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Manual fault reporting and disjointed systems delay issue resolution.</a:t>
            </a:r>
          </a:p>
          <a:p>
            <a:pPr marL="342900" indent="-342900" defTabSz="914400" eaLnBrk="0" fontAlgn="base" latinLnBrk="0" hangingPunct="0">
              <a:lnSpc>
                <a:spcPct val="150000"/>
              </a:lnSpc>
              <a:buClr>
                <a:srgbClr val="3A5172"/>
              </a:buClr>
              <a:buSzPts val="2000"/>
              <a:buFont typeface="Noto Sans Symbols"/>
              <a:buChar char="▪"/>
              <a:tabLst/>
            </a:pPr>
            <a:r>
              <a:rPr lang="en-US" altLang="en-US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Suboptimal Resource Utilization</a:t>
            </a:r>
            <a:br>
              <a:rPr lang="en-US" altLang="en-US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Poor scheduling of maintenance staff and vehicle usage.</a:t>
            </a:r>
          </a:p>
          <a:p>
            <a:pPr marL="342900" indent="-342900" defTabSz="914400" eaLnBrk="0" fontAlgn="base" latinLnBrk="0" hangingPunct="0">
              <a:lnSpc>
                <a:spcPct val="150000"/>
              </a:lnSpc>
              <a:buClr>
                <a:srgbClr val="3A5172"/>
              </a:buClr>
              <a:buSzPts val="2000"/>
              <a:buFont typeface="Noto Sans Symbols"/>
              <a:buChar char="▪"/>
              <a:tabLst/>
            </a:pPr>
            <a:r>
              <a:rPr lang="en-US" altLang="en-US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Potential Safety Hazards</a:t>
            </a:r>
            <a:br>
              <a:rPr lang="en-US" altLang="en-US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Missed early warnings like low </a:t>
            </a:r>
            <a:r>
              <a:rPr lang="en-US" altLang="en-US" dirty="0" err="1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tyre</a:t>
            </a:r>
            <a:r>
              <a:rPr lang="en-US" altLang="en-US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pressure or engine overheating can risk personnel.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f65f45ca1_0_16"/>
          <p:cNvSpPr txBox="1">
            <a:spLocks noGrp="1"/>
          </p:cNvSpPr>
          <p:nvPr>
            <p:ph type="sldNum" idx="12"/>
          </p:nvPr>
        </p:nvSpPr>
        <p:spPr>
          <a:xfrm>
            <a:off x="7656600" y="4630741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100"/>
              <a:t>5</a:t>
            </a:fld>
            <a:endParaRPr sz="1100" dirty="0"/>
          </a:p>
        </p:txBody>
      </p:sp>
      <p:sp>
        <p:nvSpPr>
          <p:cNvPr id="173" name="Google Shape;173;g31f65f45ca1_0_16"/>
          <p:cNvSpPr/>
          <p:nvPr/>
        </p:nvSpPr>
        <p:spPr>
          <a:xfrm>
            <a:off x="457200" y="4010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5D008F-9C05-417E-BF94-648EF5DAD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7886-27E5-49AE-97FD-4D4DA4E7BB73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13E8BEE-84C0-4EC8-A20C-B592256AB655}"/>
              </a:ext>
            </a:extLst>
          </p:cNvPr>
          <p:cNvGrpSpPr/>
          <p:nvPr/>
        </p:nvGrpSpPr>
        <p:grpSpPr>
          <a:xfrm>
            <a:off x="263819" y="163628"/>
            <a:ext cx="2170497" cy="4782713"/>
            <a:chOff x="588169" y="780055"/>
            <a:chExt cx="2726531" cy="5537870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18BF2267-28C7-44BF-AEE8-EC008E0A9955}"/>
                </a:ext>
              </a:extLst>
            </p:cNvPr>
            <p:cNvSpPr/>
            <p:nvPr/>
          </p:nvSpPr>
          <p:spPr>
            <a:xfrm>
              <a:off x="588169" y="2706253"/>
              <a:ext cx="2724150" cy="1211268"/>
            </a:xfrm>
            <a:prstGeom prst="roundRect">
              <a:avLst/>
            </a:prstGeom>
            <a:gradFill rotWithShape="1">
              <a:gsLst>
                <a:gs pos="0">
                  <a:srgbClr val="ED7D31">
                    <a:satMod val="103000"/>
                    <a:lumMod val="102000"/>
                    <a:tint val="94000"/>
                  </a:srgbClr>
                </a:gs>
                <a:gs pos="50000">
                  <a:srgbClr val="ED7D31">
                    <a:satMod val="110000"/>
                    <a:lumMod val="100000"/>
                    <a:shade val="100000"/>
                  </a:srgbClr>
                </a:gs>
                <a:gs pos="100000">
                  <a:srgbClr val="ED7D31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UI / UX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Prototype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Sensor Data Simulation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B0793045-AEA9-465C-B1DC-7058579A841D}"/>
                </a:ext>
              </a:extLst>
            </p:cNvPr>
            <p:cNvSpPr/>
            <p:nvPr/>
          </p:nvSpPr>
          <p:spPr>
            <a:xfrm>
              <a:off x="588169" y="1391908"/>
              <a:ext cx="2724150" cy="1211268"/>
            </a:xfrm>
            <a:prstGeom prst="roundRect">
              <a:avLst/>
            </a:prstGeom>
            <a:gradFill rotWithShape="1">
              <a:gsLst>
                <a:gs pos="0">
                  <a:srgbClr val="ED7D31">
                    <a:satMod val="103000"/>
                    <a:lumMod val="102000"/>
                    <a:tint val="94000"/>
                  </a:srgbClr>
                </a:gs>
                <a:gs pos="50000">
                  <a:srgbClr val="ED7D31">
                    <a:satMod val="110000"/>
                    <a:lumMod val="100000"/>
                    <a:shade val="100000"/>
                  </a:srgbClr>
                </a:gs>
                <a:gs pos="100000">
                  <a:srgbClr val="ED7D31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Overall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Architecture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Design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F9DBFFBA-55EE-445C-8710-5750DF3F8A0A}"/>
                </a:ext>
              </a:extLst>
            </p:cNvPr>
            <p:cNvSpPr/>
            <p:nvPr/>
          </p:nvSpPr>
          <p:spPr>
            <a:xfrm>
              <a:off x="590550" y="5334942"/>
              <a:ext cx="2724150" cy="982983"/>
            </a:xfrm>
            <a:prstGeom prst="roundRect">
              <a:avLst/>
            </a:prstGeom>
            <a:gradFill rotWithShape="1">
              <a:gsLst>
                <a:gs pos="0">
                  <a:srgbClr val="ED7D31">
                    <a:satMod val="103000"/>
                    <a:lumMod val="102000"/>
                    <a:tint val="94000"/>
                  </a:srgbClr>
                </a:gs>
                <a:gs pos="50000">
                  <a:srgbClr val="ED7D31">
                    <a:satMod val="110000"/>
                    <a:lumMod val="100000"/>
                    <a:shade val="100000"/>
                  </a:srgbClr>
                </a:gs>
                <a:gs pos="100000">
                  <a:srgbClr val="ED7D31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Real Time Dashboard Dataflow &amp;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Alerts Generation</a:t>
              </a: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0C2AC192-B963-4D0A-8FBE-9DAA92268D4A}"/>
                </a:ext>
              </a:extLst>
            </p:cNvPr>
            <p:cNvSpPr/>
            <p:nvPr/>
          </p:nvSpPr>
          <p:spPr>
            <a:xfrm>
              <a:off x="588169" y="4018758"/>
              <a:ext cx="2724150" cy="1211268"/>
            </a:xfrm>
            <a:prstGeom prst="roundRect">
              <a:avLst/>
            </a:prstGeom>
            <a:gradFill rotWithShape="1">
              <a:gsLst>
                <a:gs pos="0">
                  <a:srgbClr val="ED7D31">
                    <a:satMod val="103000"/>
                    <a:lumMod val="102000"/>
                    <a:tint val="94000"/>
                  </a:srgbClr>
                </a:gs>
                <a:gs pos="50000">
                  <a:srgbClr val="ED7D31">
                    <a:satMod val="110000"/>
                    <a:lumMod val="100000"/>
                    <a:shade val="100000"/>
                  </a:srgbClr>
                </a:gs>
                <a:gs pos="100000">
                  <a:srgbClr val="ED7D31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Interface Creation of Swift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5287EAF-C9F5-469D-86F8-C02013533855}"/>
                </a:ext>
              </a:extLst>
            </p:cNvPr>
            <p:cNvSpPr/>
            <p:nvPr/>
          </p:nvSpPr>
          <p:spPr>
            <a:xfrm>
              <a:off x="588169" y="780055"/>
              <a:ext cx="2724150" cy="431211"/>
            </a:xfrm>
            <a:prstGeom prst="roundRect">
              <a:avLst/>
            </a:prstGeom>
            <a:solidFill>
              <a:srgbClr val="E7E6E6">
                <a:lumMod val="75000"/>
              </a:srgb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PHASE 1</a:t>
              </a:r>
            </a:p>
          </p:txBody>
        </p:sp>
      </p:grpSp>
      <p:sp>
        <p:nvSpPr>
          <p:cNvPr id="73" name="Arrow: Striped Right 72">
            <a:extLst>
              <a:ext uri="{FF2B5EF4-FFF2-40B4-BE49-F238E27FC236}">
                <a16:creationId xmlns:a16="http://schemas.microsoft.com/office/drawing/2014/main" id="{4759CB2B-6C5B-4BF0-80E3-6FA1777D22E1}"/>
              </a:ext>
            </a:extLst>
          </p:cNvPr>
          <p:cNvSpPr/>
          <p:nvPr/>
        </p:nvSpPr>
        <p:spPr>
          <a:xfrm>
            <a:off x="2592474" y="2571749"/>
            <a:ext cx="906900" cy="689084"/>
          </a:xfrm>
          <a:prstGeom prst="stripedRightArrow">
            <a:avLst/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9B0B67-D6CD-4918-B434-F8D04BC1282A}"/>
              </a:ext>
            </a:extLst>
          </p:cNvPr>
          <p:cNvGrpSpPr/>
          <p:nvPr/>
        </p:nvGrpSpPr>
        <p:grpSpPr>
          <a:xfrm>
            <a:off x="3503317" y="214857"/>
            <a:ext cx="2079615" cy="3882543"/>
            <a:chOff x="3532192" y="214857"/>
            <a:chExt cx="2079615" cy="3882543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A5B85928-0332-46D2-BF22-C52CFC2E6711}"/>
                </a:ext>
              </a:extLst>
            </p:cNvPr>
            <p:cNvSpPr/>
            <p:nvPr/>
          </p:nvSpPr>
          <p:spPr>
            <a:xfrm>
              <a:off x="3532193" y="1803467"/>
              <a:ext cx="2079614" cy="971023"/>
            </a:xfrm>
            <a:prstGeom prst="roundRect">
              <a:avLst/>
            </a:prstGeom>
            <a:gradFill rotWithShape="1">
              <a:gsLst>
                <a:gs pos="0">
                  <a:srgbClr val="FFC000">
                    <a:lumMod val="110000"/>
                    <a:satMod val="105000"/>
                    <a:tint val="67000"/>
                  </a:srgbClr>
                </a:gs>
                <a:gs pos="50000">
                  <a:srgbClr val="FFC000">
                    <a:lumMod val="105000"/>
                    <a:satMod val="103000"/>
                    <a:tint val="73000"/>
                  </a:srgbClr>
                </a:gs>
                <a:gs pos="100000">
                  <a:srgbClr val="FFC000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Device Connectivity</a:t>
              </a: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64517B00-A2C1-426B-9830-B3851BC1664F}"/>
                </a:ext>
              </a:extLst>
            </p:cNvPr>
            <p:cNvSpPr/>
            <p:nvPr/>
          </p:nvSpPr>
          <p:spPr>
            <a:xfrm>
              <a:off x="3532193" y="3126366"/>
              <a:ext cx="2079614" cy="971034"/>
            </a:xfrm>
            <a:prstGeom prst="roundRect">
              <a:avLst/>
            </a:prstGeom>
            <a:gradFill rotWithShape="1">
              <a:gsLst>
                <a:gs pos="0">
                  <a:srgbClr val="FFC000">
                    <a:lumMod val="110000"/>
                    <a:satMod val="105000"/>
                    <a:tint val="67000"/>
                  </a:srgbClr>
                </a:gs>
                <a:gs pos="50000">
                  <a:srgbClr val="FFC000">
                    <a:lumMod val="105000"/>
                    <a:satMod val="103000"/>
                    <a:tint val="73000"/>
                  </a:srgbClr>
                </a:gs>
                <a:gs pos="100000">
                  <a:srgbClr val="FFC000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ML Predictive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Model</a:t>
              </a: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230C2415-D60E-4672-BFE3-4BA3FE70C32D}"/>
                </a:ext>
              </a:extLst>
            </p:cNvPr>
            <p:cNvSpPr/>
            <p:nvPr/>
          </p:nvSpPr>
          <p:spPr>
            <a:xfrm>
              <a:off x="3532192" y="214857"/>
              <a:ext cx="2079615" cy="372411"/>
            </a:xfrm>
            <a:prstGeom prst="roundRect">
              <a:avLst/>
            </a:prstGeom>
            <a:solidFill>
              <a:srgbClr val="E7E6E6">
                <a:lumMod val="75000"/>
              </a:srgb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2000" b="1" kern="1200" noProof="1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PHASE 2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582335-DDDF-41C4-99BF-2500536BCB7D}"/>
              </a:ext>
            </a:extLst>
          </p:cNvPr>
          <p:cNvGrpSpPr/>
          <p:nvPr/>
        </p:nvGrpSpPr>
        <p:grpSpPr>
          <a:xfrm>
            <a:off x="6779526" y="232696"/>
            <a:ext cx="2113795" cy="4589219"/>
            <a:chOff x="6538898" y="232696"/>
            <a:chExt cx="2113795" cy="4589219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4F12FD0C-6E7C-4846-BBEA-F6E8A2752507}"/>
                </a:ext>
              </a:extLst>
            </p:cNvPr>
            <p:cNvSpPr/>
            <p:nvPr/>
          </p:nvSpPr>
          <p:spPr>
            <a:xfrm>
              <a:off x="6551526" y="2717255"/>
              <a:ext cx="2079614" cy="971020"/>
            </a:xfrm>
            <a:prstGeom prst="round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Testing</a:t>
              </a: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7335DCDE-D85B-4470-98E5-966A691F1FEE}"/>
                </a:ext>
              </a:extLst>
            </p:cNvPr>
            <p:cNvSpPr/>
            <p:nvPr/>
          </p:nvSpPr>
          <p:spPr>
            <a:xfrm>
              <a:off x="6551526" y="1583601"/>
              <a:ext cx="2079614" cy="971034"/>
            </a:xfrm>
            <a:prstGeom prst="round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2400" b="1" i="1" kern="1200" noProof="1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Solution Integration</a:t>
              </a:r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51F708F2-470F-4437-BBBC-8F92A3A65D80}"/>
                </a:ext>
              </a:extLst>
            </p:cNvPr>
            <p:cNvSpPr/>
            <p:nvPr/>
          </p:nvSpPr>
          <p:spPr>
            <a:xfrm>
              <a:off x="6573079" y="3850895"/>
              <a:ext cx="2079614" cy="971020"/>
            </a:xfrm>
            <a:prstGeom prst="round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Demo</a:t>
              </a:r>
              <a:br>
                <a:rPr kumimoji="0" lang="en-US" sz="28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</a:br>
              <a:r>
                <a:rPr kumimoji="0" lang="en-US" sz="2800" b="1" i="1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Launch </a:t>
              </a:r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39CD7348-6473-4F46-9659-A4E3B7D56E40}"/>
                </a:ext>
              </a:extLst>
            </p:cNvPr>
            <p:cNvSpPr/>
            <p:nvPr/>
          </p:nvSpPr>
          <p:spPr>
            <a:xfrm>
              <a:off x="6538898" y="232696"/>
              <a:ext cx="2104870" cy="344305"/>
            </a:xfrm>
            <a:prstGeom prst="roundRect">
              <a:avLst/>
            </a:prstGeom>
            <a:solidFill>
              <a:srgbClr val="E7E6E6">
                <a:lumMod val="75000"/>
              </a:srgb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2000" b="1" kern="1200" noProof="1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PHASE 3</a:t>
              </a:r>
            </a:p>
          </p:txBody>
        </p:sp>
      </p:grpSp>
      <p:sp>
        <p:nvSpPr>
          <p:cNvPr id="89" name="Arrow: Striped Right 88">
            <a:extLst>
              <a:ext uri="{FF2B5EF4-FFF2-40B4-BE49-F238E27FC236}">
                <a16:creationId xmlns:a16="http://schemas.microsoft.com/office/drawing/2014/main" id="{3FBDCD2F-E0E9-47B5-8D0C-5EED661DBC29}"/>
              </a:ext>
            </a:extLst>
          </p:cNvPr>
          <p:cNvSpPr/>
          <p:nvPr/>
        </p:nvSpPr>
        <p:spPr>
          <a:xfrm>
            <a:off x="5748533" y="2569998"/>
            <a:ext cx="906900" cy="689084"/>
          </a:xfrm>
          <a:prstGeom prst="stripedRightArrow">
            <a:avLst/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457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8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1" name="Google Shape;211;p7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12" name="Google Shape;212;p7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9" name="Google Shape;219;p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3FFED0-87B3-4E75-994A-F1D6CBB0C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9367E010-6D91-470E-93B7-DEDF7190E6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2547599"/>
              </p:ext>
            </p:extLst>
          </p:nvPr>
        </p:nvGraphicFramePr>
        <p:xfrm>
          <a:off x="115261" y="1243299"/>
          <a:ext cx="8217131" cy="3397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8"/>
          <p:cNvGrpSpPr/>
          <p:nvPr/>
        </p:nvGrpSpPr>
        <p:grpSpPr>
          <a:xfrm>
            <a:off x="215153" y="754503"/>
            <a:ext cx="8890247" cy="2067200"/>
            <a:chOff x="185742" y="1287960"/>
            <a:chExt cx="8044528" cy="2067200"/>
          </a:xfrm>
        </p:grpSpPr>
        <p:sp>
          <p:nvSpPr>
            <p:cNvPr id="228" name="Google Shape;228;p8"/>
            <p:cNvSpPr/>
            <p:nvPr/>
          </p:nvSpPr>
          <p:spPr>
            <a:xfrm>
              <a:off x="6978450" y="12879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vo"/>
                <a:cs typeface="Times New Roman" panose="02020603050405020304" pitchFamily="18" charset="0"/>
                <a:sym typeface="Arvo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 rot="10800000" flipH="1">
              <a:off x="1423250" y="1697050"/>
              <a:ext cx="5566500" cy="1243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vo"/>
                <a:cs typeface="Times New Roman" panose="02020603050405020304" pitchFamily="18" charset="0"/>
                <a:sym typeface="Arvo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 rot="10800000" flipH="1">
              <a:off x="6986470" y="1697043"/>
              <a:ext cx="1243800" cy="12438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vo"/>
                <a:cs typeface="Times New Roman" panose="02020603050405020304" pitchFamily="18" charset="0"/>
                <a:sym typeface="Arvo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vo"/>
                <a:cs typeface="Times New Roman" panose="02020603050405020304" pitchFamily="18" charset="0"/>
                <a:sym typeface="Arvo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vo"/>
                <a:cs typeface="Times New Roman" panose="02020603050405020304" pitchFamily="18" charset="0"/>
                <a:sym typeface="Arvo"/>
              </a:endParaRPr>
            </a:p>
          </p:txBody>
        </p:sp>
      </p:grpSp>
      <p:sp>
        <p:nvSpPr>
          <p:cNvPr id="233" name="Google Shape;233;p8"/>
          <p:cNvSpPr txBox="1">
            <a:spLocks noGrp="1"/>
          </p:cNvSpPr>
          <p:nvPr>
            <p:ph type="ctrTitle" idx="4294967295"/>
          </p:nvPr>
        </p:nvSpPr>
        <p:spPr>
          <a:xfrm>
            <a:off x="628387" y="1148264"/>
            <a:ext cx="8039100" cy="12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</a:pPr>
            <a:r>
              <a:rPr lang="en-US" sz="4000" b="1" i="0" u="none" strike="noStrike" cap="none" dirty="0">
                <a:solidFill>
                  <a:srgbClr val="3F537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Roboto Condensed"/>
              </a:rPr>
              <a:t>Milestones </a:t>
            </a:r>
            <a:r>
              <a:rPr lang="en-US" sz="4000" dirty="0">
                <a:solidFill>
                  <a:srgbClr val="3F53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</a:t>
            </a:r>
            <a:r>
              <a:rPr lang="en-US" sz="4000" b="1" i="0" u="none" strike="noStrike" cap="none" dirty="0">
                <a:solidFill>
                  <a:srgbClr val="3F537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Roboto Condensed"/>
              </a:rPr>
              <a:t> Summary </a:t>
            </a:r>
            <a:endParaRPr sz="4000" b="1" i="0" u="none" strike="noStrike" cap="none" dirty="0">
              <a:solidFill>
                <a:srgbClr val="3F5378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Roboto Condensed"/>
            </a:endParaRPr>
          </a:p>
        </p:txBody>
      </p:sp>
      <p:sp>
        <p:nvSpPr>
          <p:cNvPr id="235" name="Google Shape;235;p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B043FB-16BF-4EBA-BFD4-EF7B67D01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5FF1E4-D74F-475C-9EAA-AF5B6FCB17A3}"/>
              </a:ext>
            </a:extLst>
          </p:cNvPr>
          <p:cNvSpPr txBox="1"/>
          <p:nvPr/>
        </p:nvSpPr>
        <p:spPr>
          <a:xfrm>
            <a:off x="628387" y="2880289"/>
            <a:ext cx="722545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Swift Platform Setup &amp; IoT Sensor Research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Swift App Design &amp; Real-Time Dashboard Development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Sensor Data Simulation &amp; Anomaly Alert System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Hardware Integration with ESP32 &amp; Sensors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Bi-LSTM Model Training for Predictive Maintenance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ERP (Salesforce) Integration for Auto-Ticketing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Full System Integration &amp; Validation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Final Report, Demo &amp; Launch Preparation</a:t>
            </a:r>
            <a:endParaRPr lang="en-US" sz="1600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>
            <a:spLocks noGrp="1"/>
          </p:cNvSpPr>
          <p:nvPr>
            <p:ph type="title"/>
          </p:nvPr>
        </p:nvSpPr>
        <p:spPr>
          <a:xfrm>
            <a:off x="814275" y="291988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THE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5"/>
          <p:cNvSpPr txBox="1">
            <a:spLocks noGrp="1"/>
          </p:cNvSpPr>
          <p:nvPr>
            <p:ph type="sldNum" idx="12"/>
          </p:nvPr>
        </p:nvSpPr>
        <p:spPr>
          <a:xfrm>
            <a:off x="7656600" y="4644195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  <p:sp>
        <p:nvSpPr>
          <p:cNvPr id="163" name="Google Shape;163;p5"/>
          <p:cNvSpPr/>
          <p:nvPr/>
        </p:nvSpPr>
        <p:spPr>
          <a:xfrm>
            <a:off x="315223" y="523331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57200" y="4010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70D0B0-4128-44F1-A89E-B1C968B1D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1D373B-A174-4DF8-B16A-1BA14DFBC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9144000" cy="5146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A05315-72E3-4848-92AF-7BE6634A1F7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l="45279" b="63125"/>
          <a:stretch/>
        </p:blipFill>
        <p:spPr>
          <a:xfrm>
            <a:off x="4180114" y="0"/>
            <a:ext cx="4487463" cy="18979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>
            <a:spLocks noGrp="1"/>
          </p:cNvSpPr>
          <p:nvPr>
            <p:ph type="title"/>
          </p:nvPr>
        </p:nvSpPr>
        <p:spPr>
          <a:xfrm>
            <a:off x="814275" y="291988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THE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5"/>
          <p:cNvSpPr txBox="1">
            <a:spLocks noGrp="1"/>
          </p:cNvSpPr>
          <p:nvPr>
            <p:ph type="sldNum" idx="12"/>
          </p:nvPr>
        </p:nvSpPr>
        <p:spPr>
          <a:xfrm>
            <a:off x="7656600" y="4644195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  <p:sp>
        <p:nvSpPr>
          <p:cNvPr id="163" name="Google Shape;163;p5"/>
          <p:cNvSpPr/>
          <p:nvPr/>
        </p:nvSpPr>
        <p:spPr>
          <a:xfrm>
            <a:off x="315223" y="523331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57200" y="4010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70D0B0-4128-44F1-A89E-B1C968B1D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1D373B-A174-4DF8-B16A-1BA14DFBC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9144000" cy="5146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A05315-72E3-4848-92AF-7BE6634A1F7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l="45279" b="63125"/>
          <a:stretch/>
        </p:blipFill>
        <p:spPr>
          <a:xfrm>
            <a:off x="4180114" y="0"/>
            <a:ext cx="4487463" cy="18979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BA654F-8790-438E-9DA5-35EAE793DDA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l="1" t="23830" r="29723" b="50034"/>
          <a:stretch/>
        </p:blipFill>
        <p:spPr>
          <a:xfrm>
            <a:off x="476423" y="1226555"/>
            <a:ext cx="5763012" cy="134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0348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>
            <a:spLocks noGrp="1"/>
          </p:cNvSpPr>
          <p:nvPr>
            <p:ph type="title"/>
          </p:nvPr>
        </p:nvSpPr>
        <p:spPr>
          <a:xfrm>
            <a:off x="814275" y="291988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THE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5"/>
          <p:cNvSpPr txBox="1">
            <a:spLocks noGrp="1"/>
          </p:cNvSpPr>
          <p:nvPr>
            <p:ph type="sldNum" idx="12"/>
          </p:nvPr>
        </p:nvSpPr>
        <p:spPr>
          <a:xfrm>
            <a:off x="7656600" y="4644195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  <p:sp>
        <p:nvSpPr>
          <p:cNvPr id="163" name="Google Shape;163;p5"/>
          <p:cNvSpPr/>
          <p:nvPr/>
        </p:nvSpPr>
        <p:spPr>
          <a:xfrm>
            <a:off x="315223" y="523331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57200" y="4010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70D0B0-4128-44F1-A89E-B1C968B1D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1D373B-A174-4DF8-B16A-1BA14DFBC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9144000" cy="5146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A05315-72E3-4848-92AF-7BE6634A1F7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l="45279" b="63125"/>
          <a:stretch/>
        </p:blipFill>
        <p:spPr>
          <a:xfrm>
            <a:off x="4180114" y="0"/>
            <a:ext cx="4487463" cy="18979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BA654F-8790-438E-9DA5-35EAE793DDA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l="1" t="23830" r="29723" b="50034"/>
          <a:stretch/>
        </p:blipFill>
        <p:spPr>
          <a:xfrm>
            <a:off x="476423" y="1226555"/>
            <a:ext cx="5763012" cy="13451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71EBEE-FD67-4530-9160-1D89E7018C5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t="44641" r="47246" b="29223"/>
          <a:stretch/>
        </p:blipFill>
        <p:spPr>
          <a:xfrm>
            <a:off x="476424" y="2297668"/>
            <a:ext cx="4326097" cy="134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01972"/>
      </p:ext>
    </p:extLst>
  </p:cSld>
  <p:clrMapOvr>
    <a:masterClrMapping/>
  </p:clrMapOvr>
  <p:transition spd="slow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>
            <a:spLocks noGrp="1"/>
          </p:cNvSpPr>
          <p:nvPr>
            <p:ph type="title"/>
          </p:nvPr>
        </p:nvSpPr>
        <p:spPr>
          <a:xfrm>
            <a:off x="814275" y="291988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THE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5"/>
          <p:cNvSpPr txBox="1">
            <a:spLocks noGrp="1"/>
          </p:cNvSpPr>
          <p:nvPr>
            <p:ph type="sldNum" idx="12"/>
          </p:nvPr>
        </p:nvSpPr>
        <p:spPr>
          <a:xfrm>
            <a:off x="7656600" y="4644195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  <p:sp>
        <p:nvSpPr>
          <p:cNvPr id="163" name="Google Shape;163;p5"/>
          <p:cNvSpPr/>
          <p:nvPr/>
        </p:nvSpPr>
        <p:spPr>
          <a:xfrm>
            <a:off x="315223" y="523331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57200" y="4010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70D0B0-4128-44F1-A89E-B1C968B1D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1D373B-A174-4DF8-B16A-1BA14DFBC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9144000" cy="5146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A05315-72E3-4848-92AF-7BE6634A1F7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l="45279" b="63125"/>
          <a:stretch/>
        </p:blipFill>
        <p:spPr>
          <a:xfrm>
            <a:off x="4180114" y="0"/>
            <a:ext cx="4487463" cy="18979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BA654F-8790-438E-9DA5-35EAE793DDA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l="1" t="23830" r="29723" b="50034"/>
          <a:stretch/>
        </p:blipFill>
        <p:spPr>
          <a:xfrm>
            <a:off x="476423" y="1226555"/>
            <a:ext cx="5763012" cy="13451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71EBEE-FD67-4530-9160-1D89E7018C5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t="44641" r="47246" b="29223"/>
          <a:stretch/>
        </p:blipFill>
        <p:spPr>
          <a:xfrm>
            <a:off x="476424" y="2297668"/>
            <a:ext cx="4326097" cy="13451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F670F9-BDF0-4E92-8415-F52E2C260DD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t="52914" r="47247"/>
          <a:stretch/>
        </p:blipFill>
        <p:spPr>
          <a:xfrm>
            <a:off x="476424" y="2723446"/>
            <a:ext cx="4326098" cy="242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303511"/>
      </p:ext>
    </p:extLst>
  </p:cSld>
  <p:clrMapOvr>
    <a:masterClrMapping/>
  </p:clrMapOvr>
  <p:transition spd="slow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>
            <a:spLocks noGrp="1"/>
          </p:cNvSpPr>
          <p:nvPr>
            <p:ph type="title"/>
          </p:nvPr>
        </p:nvSpPr>
        <p:spPr>
          <a:xfrm>
            <a:off x="814275" y="291988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THE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5"/>
          <p:cNvSpPr txBox="1">
            <a:spLocks noGrp="1"/>
          </p:cNvSpPr>
          <p:nvPr>
            <p:ph type="sldNum" idx="12"/>
          </p:nvPr>
        </p:nvSpPr>
        <p:spPr>
          <a:xfrm>
            <a:off x="7656600" y="4644195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 dirty="0"/>
          </a:p>
        </p:txBody>
      </p:sp>
      <p:sp>
        <p:nvSpPr>
          <p:cNvPr id="163" name="Google Shape;163;p5"/>
          <p:cNvSpPr/>
          <p:nvPr/>
        </p:nvSpPr>
        <p:spPr>
          <a:xfrm>
            <a:off x="315223" y="523331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57200" y="4010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70D0B0-4128-44F1-A89E-B1C968B1D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1D373B-A174-4DF8-B16A-1BA14DFBC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9144000" cy="5146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A05315-72E3-4848-92AF-7BE6634A1F7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l="45279" b="63125"/>
          <a:stretch/>
        </p:blipFill>
        <p:spPr>
          <a:xfrm>
            <a:off x="4180114" y="0"/>
            <a:ext cx="4487463" cy="18979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BA654F-8790-438E-9DA5-35EAE793DDA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l="1" t="23830" r="29723" b="50034"/>
          <a:stretch/>
        </p:blipFill>
        <p:spPr>
          <a:xfrm>
            <a:off x="476423" y="1226555"/>
            <a:ext cx="5763012" cy="13451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71EBEE-FD67-4530-9160-1D89E7018C5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t="44641" r="47246" b="29223"/>
          <a:stretch/>
        </p:blipFill>
        <p:spPr>
          <a:xfrm>
            <a:off x="476424" y="2297668"/>
            <a:ext cx="4326097" cy="13451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F670F9-BDF0-4E92-8415-F52E2C260DD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t="52914" r="47247"/>
          <a:stretch/>
        </p:blipFill>
        <p:spPr>
          <a:xfrm>
            <a:off x="476424" y="2723446"/>
            <a:ext cx="4326098" cy="24235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2D2BD3-3635-43F7-BA9A-4CBC042A62A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75955" y1="75919" x2="90164" y2="90485"/>
                        <a14:foregroundMark x1="25121" y1="23802" x2="71280" y2="7112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72361" y1="74645" x2="4333" y2="79851"/>
                        <a14:foregroundMark x1="77495" y1="74253" x2="76531" y2="74327"/>
                        <a14:foregroundMark x1="87237" y1="73507" x2="78351" y2="74187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77508" y1="74278" x2="72014" y2="83396"/>
                        <a14:foregroundMark x1="80445" y1="69403" x2="77993" y2="73473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72365" y1="74634" x2="42389" y2="71642"/>
                        <a14:foregroundMark x1="77968" y1="75194" x2="76304" y2="75028"/>
                        <a14:foregroundMark x1="87237" y1="76119" x2="78904" y2="75287"/>
                        <a14:foregroundMark x1="42389" y1="71642" x2="25176" y2="88806"/>
                        <a14:foregroundMark x1="78673" y1="75736" x2="79391" y2="75560"/>
                        <a14:foregroundMark x1="74646" y1="76720" x2="78287" y2="75830"/>
                        <a14:foregroundMark x1="25176" y1="88806" x2="74526" y2="76749"/>
                        <a14:foregroundMark x1="77402" y1="74069" x2="76769" y2="73594"/>
                        <a14:foregroundMark x1="79391" y1="75560" x2="78829" y2="75139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  <a14:backgroundMark x1="73419" y1="71828" x2="74590" y2="71642"/>
                        <a14:backgroundMark x1="74356" y1="71455" x2="71194" y2="70896"/>
                        <a14:backgroundMark x1="77166" y1="71828" x2="76464" y2="72201"/>
                        <a14:backgroundMark x1="75293" y1="72201" x2="75878" y2="72575"/>
                        <a14:backgroundMark x1="75878" y1="72575" x2="77400" y2="71642"/>
                      </a14:backgroundRemoval>
                    </a14:imgEffect>
                  </a14:imgLayer>
                </a14:imgProps>
              </a:ext>
            </a:extLst>
          </a:blip>
          <a:srcRect t="44641" r="23915"/>
          <a:stretch/>
        </p:blipFill>
        <p:spPr>
          <a:xfrm>
            <a:off x="476423" y="2297668"/>
            <a:ext cx="6239435" cy="284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04849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>
            <a:spLocks noGrp="1"/>
          </p:cNvSpPr>
          <p:nvPr>
            <p:ph type="title"/>
          </p:nvPr>
        </p:nvSpPr>
        <p:spPr>
          <a:xfrm>
            <a:off x="814275" y="291988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THE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5"/>
          <p:cNvSpPr txBox="1">
            <a:spLocks noGrp="1"/>
          </p:cNvSpPr>
          <p:nvPr>
            <p:ph type="sldNum" idx="12"/>
          </p:nvPr>
        </p:nvSpPr>
        <p:spPr>
          <a:xfrm>
            <a:off x="7656600" y="4644195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  <p:sp>
        <p:nvSpPr>
          <p:cNvPr id="163" name="Google Shape;163;p5"/>
          <p:cNvSpPr/>
          <p:nvPr/>
        </p:nvSpPr>
        <p:spPr>
          <a:xfrm>
            <a:off x="315223" y="523331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57200" y="4010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70D0B0-4128-44F1-A89E-B1C968B1D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1D373B-A174-4DF8-B16A-1BA14DFBC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9144000" cy="5146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A05315-72E3-4848-92AF-7BE6634A1F7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l="45279" b="63125"/>
          <a:stretch/>
        </p:blipFill>
        <p:spPr>
          <a:xfrm>
            <a:off x="4180114" y="0"/>
            <a:ext cx="4487463" cy="18979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BA654F-8790-438E-9DA5-35EAE793DDA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l="1" t="23830" r="29723" b="50034"/>
          <a:stretch/>
        </p:blipFill>
        <p:spPr>
          <a:xfrm>
            <a:off x="476423" y="1226555"/>
            <a:ext cx="5763012" cy="13451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71EBEE-FD67-4530-9160-1D89E7018C5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t="44641" r="47246" b="29223"/>
          <a:stretch/>
        </p:blipFill>
        <p:spPr>
          <a:xfrm>
            <a:off x="476424" y="2297668"/>
            <a:ext cx="4326097" cy="13451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F670F9-BDF0-4E92-8415-F52E2C260DD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rcRect t="52914" r="47247"/>
          <a:stretch/>
        </p:blipFill>
        <p:spPr>
          <a:xfrm>
            <a:off x="476424" y="2723446"/>
            <a:ext cx="4326098" cy="24235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2D2BD3-3635-43F7-BA9A-4CBC042A62A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75955" y1="75919" x2="90164" y2="90485"/>
                        <a14:foregroundMark x1="25121" y1="23802" x2="71280" y2="7112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72361" y1="74645" x2="4333" y2="79851"/>
                        <a14:foregroundMark x1="77495" y1="74253" x2="76531" y2="74327"/>
                        <a14:foregroundMark x1="87237" y1="73507" x2="78351" y2="74187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77508" y1="74278" x2="72014" y2="83396"/>
                        <a14:foregroundMark x1="80445" y1="69403" x2="77993" y2="73473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72365" y1="74634" x2="42389" y2="71642"/>
                        <a14:foregroundMark x1="77968" y1="75194" x2="76304" y2="75028"/>
                        <a14:foregroundMark x1="87237" y1="76119" x2="78904" y2="75287"/>
                        <a14:foregroundMark x1="42389" y1="71642" x2="25176" y2="88806"/>
                        <a14:foregroundMark x1="78673" y1="75736" x2="79391" y2="75560"/>
                        <a14:foregroundMark x1="74646" y1="76720" x2="78287" y2="75830"/>
                        <a14:foregroundMark x1="25176" y1="88806" x2="74526" y2="76749"/>
                        <a14:foregroundMark x1="77402" y1="74069" x2="76769" y2="73594"/>
                        <a14:foregroundMark x1="79391" y1="75560" x2="78829" y2="75139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  <a14:backgroundMark x1="73419" y1="71828" x2="74590" y2="71642"/>
                        <a14:backgroundMark x1="74356" y1="71455" x2="71194" y2="70896"/>
                        <a14:backgroundMark x1="77166" y1="71828" x2="76464" y2="72201"/>
                        <a14:backgroundMark x1="75293" y1="72201" x2="75878" y2="72575"/>
                        <a14:backgroundMark x1="75878" y1="72575" x2="77400" y2="71642"/>
                      </a14:backgroundRemoval>
                    </a14:imgEffect>
                  </a14:imgLayer>
                </a14:imgProps>
              </a:ext>
            </a:extLst>
          </a:blip>
          <a:srcRect t="44641" r="23915"/>
          <a:stretch/>
        </p:blipFill>
        <p:spPr>
          <a:xfrm>
            <a:off x="476423" y="2297668"/>
            <a:ext cx="6239435" cy="28493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80131D-C719-4331-A27F-77315F58D6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8" b="99440" l="2342" r="97541">
                        <a14:foregroundMark x1="25121" y1="23802" x2="90164" y2="90485"/>
                        <a14:foregroundMark x1="4450" y1="2612" x2="8961" y2="7237"/>
                        <a14:foregroundMark x1="90164" y1="90485" x2="89227" y2="90112"/>
                        <a14:foregroundMark x1="46370" y1="66231" x2="23185" y2="48694"/>
                        <a14:foregroundMark x1="23185" y1="48694" x2="52225" y2="41604"/>
                        <a14:foregroundMark x1="52225" y1="41604" x2="23536" y2="61381"/>
                        <a14:foregroundMark x1="23536" y1="61381" x2="65457" y2="55410"/>
                        <a14:foregroundMark x1="65457" y1="55410" x2="59953" y2="28731"/>
                        <a14:foregroundMark x1="59953" y1="28731" x2="39344" y2="51679"/>
                        <a14:foregroundMark x1="39344" y1="51679" x2="74707" y2="37500"/>
                        <a14:foregroundMark x1="74707" y1="37500" x2="42155" y2="49440"/>
                        <a14:foregroundMark x1="42155" y1="49440" x2="66511" y2="71269"/>
                        <a14:foregroundMark x1="66511" y1="71269" x2="46370" y2="87873"/>
                        <a14:foregroundMark x1="46370" y1="87873" x2="43326" y2="79664"/>
                        <a14:foregroundMark x1="43326" y1="79664" x2="32201" y2="86754"/>
                        <a14:foregroundMark x1="32201" y1="86754" x2="17447" y2="50746"/>
                        <a14:foregroundMark x1="17447" y1="50746" x2="63934" y2="3545"/>
                        <a14:foregroundMark x1="18399" y1="22645" x2="8782" y2="26679"/>
                        <a14:foregroundMark x1="20414" y1="21800" x2="20092" y2="21935"/>
                        <a14:foregroundMark x1="63934" y1="3545" x2="42826" y2="12399"/>
                        <a14:foregroundMark x1="8782" y1="26679" x2="37471" y2="25746"/>
                        <a14:foregroundMark x1="37471" y1="25746" x2="19204" y2="69403"/>
                        <a14:foregroundMark x1="19204" y1="69403" x2="88173" y2="45522"/>
                        <a14:foregroundMark x1="88173" y1="45522" x2="81382" y2="40112"/>
                        <a14:foregroundMark x1="81382" y1="40112" x2="14169" y2="82836"/>
                        <a14:foregroundMark x1="14169" y1="82836" x2="44496" y2="41418"/>
                        <a14:foregroundMark x1="44496" y1="41418" x2="7963" y2="54851"/>
                        <a14:foregroundMark x1="41836" y1="20670" x2="43091" y2="19403"/>
                        <a14:foregroundMark x1="7963" y1="54851" x2="39981" y2="22541"/>
                        <a14:foregroundMark x1="43091" y1="19403" x2="42319" y2="19165"/>
                        <a14:foregroundMark x1="44262" y1="13218" x2="52576" y2="12873"/>
                        <a14:foregroundMark x1="43669" y1="10164" x2="72482" y2="33396"/>
                        <a14:foregroundMark x1="72482" y1="33396" x2="65574" y2="22201"/>
                        <a14:foregroundMark x1="65574" y1="22201" x2="70375" y2="44590"/>
                        <a14:foregroundMark x1="70375" y1="44590" x2="82904" y2="41791"/>
                        <a14:foregroundMark x1="82904" y1="41791" x2="77635" y2="53918"/>
                        <a14:foregroundMark x1="77635" y1="53918" x2="87237" y2="73507"/>
                        <a14:foregroundMark x1="87237" y1="73507" x2="4333" y2="79851"/>
                        <a14:foregroundMark x1="4333" y1="79851" x2="31967" y2="83209"/>
                        <a14:foregroundMark x1="31967" y1="83209" x2="16159" y2="92537"/>
                        <a14:foregroundMark x1="16159" y1="92537" x2="37471" y2="72015"/>
                        <a14:foregroundMark x1="37471" y1="72015" x2="26347" y2="71269"/>
                        <a14:foregroundMark x1="26347" y1="71269" x2="22014" y2="52612"/>
                        <a14:foregroundMark x1="22014" y1="52612" x2="15574" y2="77612"/>
                        <a14:foregroundMark x1="15574" y1="77612" x2="9719" y2="57090"/>
                        <a14:foregroundMark x1="9719" y1="57090" x2="8899" y2="86007"/>
                        <a14:foregroundMark x1="8899" y1="86007" x2="3396" y2="63433"/>
                        <a14:foregroundMark x1="3396" y1="63433" x2="10422" y2="38246"/>
                        <a14:foregroundMark x1="10422" y1="38246" x2="5855" y2="30784"/>
                        <a14:foregroundMark x1="5855" y1="30784" x2="2459" y2="38246"/>
                        <a14:foregroundMark x1="2459" y1="38246" x2="7260" y2="46455"/>
                        <a14:foregroundMark x1="7260" y1="46455" x2="7260" y2="46455"/>
                        <a14:foregroundMark x1="7260" y1="46455" x2="42506" y2="29664"/>
                        <a14:foregroundMark x1="42506" y1="29664" x2="92155" y2="37313"/>
                        <a14:foregroundMark x1="92155" y1="37313" x2="97541" y2="42537"/>
                        <a14:foregroundMark x1="97541" y1="42537" x2="82670" y2="22761"/>
                        <a14:foregroundMark x1="82670" y1="22761" x2="33372" y2="24813"/>
                        <a14:foregroundMark x1="33372" y1="24813" x2="21311" y2="35821"/>
                        <a14:foregroundMark x1="21311" y1="35821" x2="21311" y2="35821"/>
                        <a14:foregroundMark x1="42082" y1="8627" x2="51874" y2="3918"/>
                        <a14:foregroundMark x1="51874" y1="3918" x2="72482" y2="3545"/>
                        <a14:foregroundMark x1="72482" y1="3545" x2="86768" y2="31157"/>
                        <a14:foregroundMark x1="86768" y1="31157" x2="48126" y2="30597"/>
                        <a14:foregroundMark x1="48126" y1="30597" x2="73185" y2="3918"/>
                        <a14:foregroundMark x1="73185" y1="3918" x2="76230" y2="20336"/>
                        <a14:foregroundMark x1="76230" y1="20336" x2="74473" y2="23694"/>
                        <a14:foregroundMark x1="74824" y1="25560" x2="60890" y2="68097"/>
                        <a14:foregroundMark x1="60890" y1="68097" x2="74707" y2="90485"/>
                        <a14:foregroundMark x1="74707" y1="90485" x2="75059" y2="78358"/>
                        <a14:foregroundMark x1="75059" y1="78358" x2="18384" y2="83396"/>
                        <a14:foregroundMark x1="18384" y1="83396" x2="1522" y2="92724"/>
                        <a14:foregroundMark x1="1522" y1="92724" x2="88173" y2="81157"/>
                        <a14:foregroundMark x1="88173" y1="81157" x2="83021" y2="96642"/>
                        <a14:foregroundMark x1="83021" y1="96642" x2="76230" y2="99440"/>
                        <a14:foregroundMark x1="76230" y1="99440" x2="3747" y2="74627"/>
                        <a14:foregroundMark x1="3747" y1="74627" x2="45785" y2="60261"/>
                        <a14:foregroundMark x1="45785" y1="60261" x2="46604" y2="80410"/>
                        <a14:foregroundMark x1="59133" y1="19776" x2="56089" y2="9701"/>
                        <a14:foregroundMark x1="56089" y1="9701" x2="62763" y2="15485"/>
                        <a14:foregroundMark x1="62763" y1="15485" x2="55855" y2="10261"/>
                        <a14:foregroundMark x1="55855" y1="10261" x2="67096" y2="39179"/>
                        <a14:foregroundMark x1="67096" y1="39179" x2="55035" y2="57463"/>
                        <a14:foregroundMark x1="55035" y1="57463" x2="75878" y2="53358"/>
                        <a14:foregroundMark x1="75878" y1="53358" x2="80445" y2="69403"/>
                        <a14:foregroundMark x1="80445" y1="69403" x2="72014" y2="83396"/>
                        <a14:foregroundMark x1="72014" y1="83396" x2="51405" y2="93843"/>
                        <a14:foregroundMark x1="51405" y1="93843" x2="17447" y2="77799"/>
                        <a14:foregroundMark x1="17447" y1="77799" x2="9251" y2="63433"/>
                        <a14:foregroundMark x1="9251" y1="63433" x2="18267" y2="37687"/>
                        <a14:foregroundMark x1="18267" y1="37687" x2="42623" y2="40299"/>
                        <a14:foregroundMark x1="42623" y1="40299" x2="65105" y2="27425"/>
                        <a14:foregroundMark x1="65105" y1="27425" x2="87237" y2="38619"/>
                        <a14:foregroundMark x1="87237" y1="38619" x2="80094" y2="68470"/>
                        <a14:foregroundMark x1="80094" y1="68470" x2="87237" y2="76119"/>
                        <a14:foregroundMark x1="87237" y1="76119" x2="42389" y2="71642"/>
                        <a14:foregroundMark x1="42389" y1="71642" x2="25176" y2="88806"/>
                        <a14:foregroundMark x1="25176" y1="88806" x2="79391" y2="75560"/>
                        <a14:foregroundMark x1="79391" y1="75560" x2="75410" y2="72575"/>
                        <a14:backgroundMark x1="25995" y1="19590" x2="25995" y2="19590"/>
                        <a14:backgroundMark x1="27986" y1="19030" x2="31499" y2="17910"/>
                        <a14:backgroundMark x1="31499" y1="17910" x2="38525" y2="15485"/>
                        <a14:backgroundMark x1="38525" y1="15485" x2="29157" y2="14366"/>
                        <a14:backgroundMark x1="29157" y1="14366" x2="29157" y2="14366"/>
                        <a14:backgroundMark x1="29157" y1="14366" x2="35246" y2="10821"/>
                        <a14:backgroundMark x1="35246" y1="10821" x2="40984" y2="12687"/>
                        <a14:backgroundMark x1="40984" y1="12687" x2="40984" y2="12873"/>
                        <a14:backgroundMark x1="40984" y1="12873" x2="38290" y2="21269"/>
                        <a14:backgroundMark x1="28806" y1="16418" x2="22365" y2="13993"/>
                        <a14:backgroundMark x1="22365" y1="13993" x2="12998" y2="14552"/>
                        <a14:backgroundMark x1="12998" y1="14552" x2="21311" y2="19590"/>
                        <a14:backgroundMark x1="21311" y1="19590" x2="30679" y2="19963"/>
                        <a14:backgroundMark x1="29040" y1="12313" x2="21546" y2="13619"/>
                        <a14:backgroundMark x1="21546" y1="13619" x2="12646" y2="11194"/>
                        <a14:backgroundMark x1="12646" y1="11194" x2="22131" y2="7090"/>
                        <a14:backgroundMark x1="22131" y1="7090" x2="23185" y2="7090"/>
                        <a14:backgroundMark x1="12763" y1="10634" x2="10070" y2="8022"/>
                        <a14:backgroundMark x1="40984" y1="11940" x2="39110" y2="13246"/>
                        <a14:backgroundMark x1="8899" y1="8955" x2="10656" y2="8769"/>
                        <a14:backgroundMark x1="10656" y1="8769" x2="9602" y2="8209"/>
                        <a14:backgroundMark x1="8080" y1="10448" x2="9836" y2="8022"/>
                        <a14:backgroundMark x1="11241" y1="8396" x2="10539" y2="8582"/>
                        <a14:backgroundMark x1="33724" y1="14552" x2="42506" y2="13246"/>
                        <a14:backgroundMark x1="42506" y1="13246" x2="41218" y2="12127"/>
                        <a14:backgroundMark x1="41218" y1="12127" x2="41335" y2="14739"/>
                        <a14:backgroundMark x1="9602" y1="14925" x2="11827" y2="19030"/>
                        <a14:backgroundMark x1="8665" y1="13619" x2="9133" y2="74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6423" y="0"/>
            <a:ext cx="8200599" cy="514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38570"/>
      </p:ext>
    </p:extLst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313F4F-D7C8-4534-8FDF-B7CFDDC39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8BE0F9-867F-4B45-9CEF-06F7051222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645" b="97039" l="6322" r="93295">
                        <a14:foregroundMark x1="20881" y1="25285" x2="20881" y2="25285"/>
                        <a14:foregroundMark x1="18582" y1="21868" x2="18582" y2="21868"/>
                        <a14:foregroundMark x1="28736" y1="21640" x2="28736" y2="21640"/>
                        <a14:foregroundMark x1="26437" y1="29613" x2="26437" y2="29613"/>
                        <a14:foregroundMark x1="48276" y1="14579" x2="48276" y2="14579"/>
                        <a14:foregroundMark x1="48084" y1="3645" x2="48084" y2="3645"/>
                        <a14:foregroundMark x1="46169" y1="5923" x2="46169" y2="5923"/>
                        <a14:foregroundMark x1="21073" y1="9795" x2="73180" y2="88838"/>
                        <a14:foregroundMark x1="10536" y1="74260" x2="82184" y2="20957"/>
                        <a14:foregroundMark x1="48084" y1="19134" x2="69923" y2="18679"/>
                        <a14:foregroundMark x1="69923" y1="18679" x2="69923" y2="19818"/>
                        <a14:foregroundMark x1="38889" y1="9795" x2="60345" y2="9112"/>
                        <a14:foregroundMark x1="46935" y1="19362" x2="63410" y2="32346"/>
                        <a14:foregroundMark x1="63410" y1="32346" x2="63602" y2="33485"/>
                        <a14:foregroundMark x1="56130" y1="22096" x2="63602" y2="33030"/>
                        <a14:foregroundMark x1="62835" y1="38041" x2="51724" y2="51481"/>
                        <a14:foregroundMark x1="51724" y1="51481" x2="38123" y2="53075"/>
                        <a14:foregroundMark x1="38123" y1="53075" x2="45977" y2="60364"/>
                        <a14:foregroundMark x1="45977" y1="60364" x2="27586" y2="86560"/>
                        <a14:foregroundMark x1="27586" y1="86560" x2="45402" y2="82916"/>
                        <a14:foregroundMark x1="21648" y1="15034" x2="20307" y2="49658"/>
                        <a14:foregroundMark x1="20307" y1="49658" x2="19157" y2="52620"/>
                        <a14:foregroundMark x1="13410" y1="42597" x2="18391" y2="55125"/>
                        <a14:foregroundMark x1="18391" y1="55125" x2="27203" y2="60592"/>
                        <a14:foregroundMark x1="27203" y1="60592" x2="17241" y2="44419"/>
                        <a14:foregroundMark x1="17241" y1="44419" x2="24138" y2="52620"/>
                        <a14:foregroundMark x1="24138" y1="52620" x2="65517" y2="56720"/>
                        <a14:foregroundMark x1="65517" y1="56720" x2="83716" y2="51253"/>
                        <a14:foregroundMark x1="83716" y1="51253" x2="81226" y2="35991"/>
                        <a14:foregroundMark x1="81226" y1="35991" x2="75670" y2="72210"/>
                        <a14:foregroundMark x1="75670" y1="72210" x2="59195" y2="85421"/>
                        <a14:foregroundMark x1="59195" y1="85421" x2="48467" y2="89522"/>
                        <a14:foregroundMark x1="48467" y1="89522" x2="67433" y2="86788"/>
                        <a14:foregroundMark x1="67433" y1="86788" x2="54789" y2="89749"/>
                        <a14:foregroundMark x1="54789" y1="89749" x2="68391" y2="93166"/>
                        <a14:foregroundMark x1="68391" y1="93166" x2="44636" y2="97267"/>
                        <a14:foregroundMark x1="44636" y1="97267" x2="35441" y2="89749"/>
                        <a14:foregroundMark x1="35441" y1="89749" x2="46360" y2="97039"/>
                        <a14:foregroundMark x1="46360" y1="97039" x2="41188" y2="92938"/>
                        <a14:foregroundMark x1="17050" y1="47380" x2="14368" y2="58770"/>
                        <a14:foregroundMark x1="14368" y1="58770" x2="9962" y2="43052"/>
                        <a14:foregroundMark x1="9962" y1="43052" x2="24330" y2="81093"/>
                        <a14:foregroundMark x1="24330" y1="81093" x2="23372" y2="74487"/>
                        <a14:foregroundMark x1="76820" y1="23690" x2="84100" y2="35308"/>
                        <a14:foregroundMark x1="84100" y1="35308" x2="80268" y2="60364"/>
                        <a14:foregroundMark x1="80268" y1="60364" x2="76820" y2="42369"/>
                        <a14:foregroundMark x1="76820" y1="42369" x2="85824" y2="65148"/>
                        <a14:foregroundMark x1="85824" y1="65148" x2="73180" y2="66970"/>
                        <a14:foregroundMark x1="73180" y1="66970" x2="64368" y2="82005"/>
                        <a14:foregroundMark x1="64368" y1="82005" x2="63985" y2="80638"/>
                        <a14:foregroundMark x1="58621" y1="87927" x2="51533" y2="79271"/>
                        <a14:foregroundMark x1="51533" y1="79271" x2="28161" y2="92938"/>
                        <a14:foregroundMark x1="28161" y1="92938" x2="51533" y2="61503"/>
                        <a14:foregroundMark x1="51533" y1="61503" x2="47701" y2="39408"/>
                        <a14:foregroundMark x1="47701" y1="39408" x2="54598" y2="25285"/>
                        <a14:foregroundMark x1="54598" y1="25285" x2="35441" y2="11390"/>
                        <a14:foregroundMark x1="35441" y1="11390" x2="20881" y2="19590"/>
                        <a14:foregroundMark x1="20881" y1="19590" x2="21073" y2="41458"/>
                        <a14:foregroundMark x1="21073" y1="41458" x2="24713" y2="44191"/>
                        <a14:foregroundMark x1="16092" y1="42597" x2="16092" y2="32802"/>
                        <a14:foregroundMark x1="27011" y1="47380" x2="6897" y2="43052"/>
                        <a14:foregroundMark x1="6897" y1="43052" x2="8429" y2="46014"/>
                        <a14:foregroundMark x1="6513" y1="38952" x2="21839" y2="33941"/>
                        <a14:foregroundMark x1="21839" y1="33941" x2="21839" y2="34169"/>
                        <a14:foregroundMark x1="22605" y1="9112" x2="15134" y2="21412"/>
                        <a14:foregroundMark x1="15134" y1="21412" x2="17625" y2="30296"/>
                        <a14:foregroundMark x1="67050" y1="12528" x2="87739" y2="21185"/>
                        <a14:foregroundMark x1="87739" y1="21185" x2="93295" y2="45558"/>
                        <a14:foregroundMark x1="93295" y1="45558" x2="86207" y2="58542"/>
                        <a14:foregroundMark x1="86207" y1="58542" x2="84291" y2="77221"/>
                        <a14:foregroundMark x1="84291" y1="77221" x2="73946" y2="89294"/>
                        <a14:foregroundMark x1="73946" y1="89294" x2="67050" y2="92938"/>
                        <a14:foregroundMark x1="69540" y1="60592" x2="61494" y2="48292"/>
                        <a14:foregroundMark x1="61494" y1="48292" x2="57088" y2="46014"/>
                        <a14:foregroundMark x1="40805" y1="43964" x2="39655" y2="57631"/>
                        <a14:foregroundMark x1="39655" y1="57631" x2="29693" y2="63326"/>
                        <a14:foregroundMark x1="29693" y1="63326" x2="29310" y2="27107"/>
                        <a14:foregroundMark x1="29310" y1="27107" x2="29693" y2="26196"/>
                        <a14:foregroundMark x1="77203" y1="48747" x2="87548" y2="68109"/>
                        <a14:foregroundMark x1="87548" y1="68109" x2="82567" y2="79271"/>
                        <a14:foregroundMark x1="82567" y1="79271" x2="79502" y2="81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52942" y="1341332"/>
            <a:ext cx="4438116" cy="373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133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xfrm>
            <a:off x="814275" y="369523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Design &amp; Sensor Integration</a:t>
            </a:r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313F4F-D7C8-4534-8FDF-B7CFDDC39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DD314B-899A-4C6A-A164-F357921CF55F}"/>
              </a:ext>
            </a:extLst>
          </p:cNvPr>
          <p:cNvSpPr txBox="1"/>
          <p:nvPr/>
        </p:nvSpPr>
        <p:spPr>
          <a:xfrm>
            <a:off x="7685" y="1365466"/>
            <a:ext cx="882127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Microcontroller:</a:t>
            </a:r>
            <a:b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ESP32-S3 with dual-core processing, Wi-Fi/BLE, and GPIO support for real-time embedded control.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Sensors Integrated: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     </a:t>
            </a:r>
            <a:r>
              <a:rPr lang="en-US" alt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NEO-6M GPS </a:t>
            </a: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– Location &amp; speed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     </a:t>
            </a:r>
            <a:r>
              <a:rPr lang="en-US" alt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DS18B20</a:t>
            </a: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– Engine temperature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     </a:t>
            </a:r>
            <a:r>
              <a:rPr lang="en-US" alt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BLE TPMS </a:t>
            </a: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– </a:t>
            </a:r>
            <a:r>
              <a:rPr lang="en-US" altLang="en-US" sz="1600" dirty="0" err="1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Tyre</a:t>
            </a: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pressure &amp; temperature sensing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Custom PCB:</a:t>
            </a:r>
            <a:b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Designed for compact integration, enclosed in IP-65 casing for durability in harsh environments.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Firmware Highlights: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     Sensor data acquisition &amp; alert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     Wireless data transmission via JSON APIs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Power Supply:</a:t>
            </a:r>
            <a:b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Supports 12V/24V systems with regulated 3.3V/5V output.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Key Features:</a:t>
            </a:r>
            <a:b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Cost-effective, scalable, and rugged — ideal for fleet-wide airport deployments.</a:t>
            </a:r>
          </a:p>
        </p:txBody>
      </p:sp>
    </p:spTree>
    <p:extLst>
      <p:ext uri="{BB962C8B-B14F-4D97-AF65-F5344CB8AC3E}">
        <p14:creationId xmlns:p14="http://schemas.microsoft.com/office/powerpoint/2010/main" val="2180652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60464B-4B39-4F1F-8FFA-8392F7CF304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xfrm>
            <a:off x="814275" y="369523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Design &amp; Sensor Integration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313F4F-D7C8-4534-8FDF-B7CFDDC39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92A96D-6D45-4410-8125-7AC8A1CE1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36" y="0"/>
            <a:ext cx="755333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795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D0DC56-8EFD-411C-B60B-C92B25DE81B8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xfrm>
            <a:off x="814275" y="369523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Design &amp; Sensor Integration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313F4F-D7C8-4534-8FDF-B7CFDDC39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6374A9-4125-4488-AE57-EFA1400D71E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802" t="-747" r="6960" b="747"/>
          <a:stretch/>
        </p:blipFill>
        <p:spPr>
          <a:xfrm rot="5400000">
            <a:off x="2000251" y="-37535"/>
            <a:ext cx="5143498" cy="521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02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xfrm>
            <a:off x="814275" y="369523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– AI/ML Model Design</a:t>
            </a:r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313F4F-D7C8-4534-8FDF-B7CFDDC39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28C5C2-6C5A-4ADC-9B31-D74D91045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58" y="1278831"/>
            <a:ext cx="859825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Overview:</a:t>
            </a:r>
          </a:p>
          <a:p>
            <a:pPr>
              <a:buClr>
                <a:schemeClr val="accent1"/>
              </a:buClr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     We implemented a Bidirectional LSTM (Bi-LSTM) model for forecasting vehicle health metrics.</a:t>
            </a:r>
          </a:p>
          <a:p>
            <a:pPr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Model Input:</a:t>
            </a:r>
          </a:p>
          <a:p>
            <a:pPr>
              <a:buClr>
                <a:schemeClr val="accent1"/>
              </a:buClr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    Time-series data from sensors (Engine Temp, </a:t>
            </a:r>
            <a:r>
              <a:rPr lang="en-US" sz="1600" dirty="0" err="1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Tyre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Pressure, </a:t>
            </a:r>
            <a:r>
              <a:rPr lang="en-US" sz="1600" dirty="0" err="1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Tyre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Temp)</a:t>
            </a:r>
          </a:p>
          <a:p>
            <a:pPr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Features used: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24-hour lag values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72-hour rolling averages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Cyclical encodings (hour, day, month)</a:t>
            </a:r>
          </a:p>
          <a:p>
            <a:pPr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Training Approach:</a:t>
            </a:r>
          </a:p>
          <a:p>
            <a:pPr>
              <a:buClr>
                <a:schemeClr val="accent1"/>
              </a:buClr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     Trained on historical data from industry for one year period</a:t>
            </a:r>
          </a:p>
          <a:p>
            <a:pPr>
              <a:buClr>
                <a:schemeClr val="accent1"/>
              </a:buClr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     Validated with synthetic 2025 data for robustness</a:t>
            </a:r>
          </a:p>
          <a:p>
            <a:pPr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Performance Metric:</a:t>
            </a:r>
          </a:p>
          <a:p>
            <a:pPr>
              <a:buClr>
                <a:schemeClr val="accent1"/>
              </a:buClr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Achieved Mean Absolute Error (MAE) of: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0.1795°C for Engine Temperature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0.2368 MPa for </a:t>
            </a:r>
            <a:r>
              <a:rPr lang="en-US" sz="1600" dirty="0" err="1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Tyre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Pressure</a:t>
            </a:r>
          </a:p>
        </p:txBody>
      </p:sp>
    </p:spTree>
    <p:extLst>
      <p:ext uri="{BB962C8B-B14F-4D97-AF65-F5344CB8AC3E}">
        <p14:creationId xmlns:p14="http://schemas.microsoft.com/office/powerpoint/2010/main" val="208263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– AI/ML Model Design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8641A3-F88C-4C46-80B9-85E5793BD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254A6-42EC-4FB7-B0A1-1DF1C01A9A9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8E0C85-AC3F-469F-8BAB-67261D1D949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DE8E2BD-CADF-4F4A-AA41-C41B1821B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61" y="415832"/>
            <a:ext cx="7860478" cy="4727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48;p4">
            <a:extLst>
              <a:ext uri="{FF2B5EF4-FFF2-40B4-BE49-F238E27FC236}">
                <a16:creationId xmlns:a16="http://schemas.microsoft.com/office/drawing/2014/main" id="{6D9CB2B2-57E1-49ED-9782-A6A571929EB1}"/>
              </a:ext>
            </a:extLst>
          </p:cNvPr>
          <p:cNvSpPr txBox="1">
            <a:spLocks/>
          </p:cNvSpPr>
          <p:nvPr/>
        </p:nvSpPr>
        <p:spPr>
          <a:xfrm>
            <a:off x="3862898" y="-109422"/>
            <a:ext cx="1923179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- MODEL</a:t>
            </a:r>
          </a:p>
        </p:txBody>
      </p:sp>
    </p:spTree>
    <p:extLst>
      <p:ext uri="{BB962C8B-B14F-4D97-AF65-F5344CB8AC3E}">
        <p14:creationId xmlns:p14="http://schemas.microsoft.com/office/powerpoint/2010/main" val="2246219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– AI/ML Model Design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8641A3-F88C-4C46-80B9-85E5793BD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254A6-42EC-4FB7-B0A1-1DF1C01A9A9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8E0C85-AC3F-469F-8BAB-67261D1D949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848FA8-FB66-4AB1-94F0-7C80A2273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695"/>
            <a:ext cx="4413363" cy="36055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1FC8A4-2E8F-41C4-AD9C-03797B107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123" y="477647"/>
            <a:ext cx="4692037" cy="3643875"/>
          </a:xfrm>
          <a:prstGeom prst="rect">
            <a:avLst/>
          </a:prstGeom>
        </p:spPr>
      </p:pic>
      <p:sp>
        <p:nvSpPr>
          <p:cNvPr id="11" name="Google Shape;148;p4">
            <a:extLst>
              <a:ext uri="{FF2B5EF4-FFF2-40B4-BE49-F238E27FC236}">
                <a16:creationId xmlns:a16="http://schemas.microsoft.com/office/drawing/2014/main" id="{0B8BFAFE-BCDE-4403-9EEA-749D98353BC4}"/>
              </a:ext>
            </a:extLst>
          </p:cNvPr>
          <p:cNvSpPr txBox="1">
            <a:spLocks/>
          </p:cNvSpPr>
          <p:nvPr/>
        </p:nvSpPr>
        <p:spPr>
          <a:xfrm>
            <a:off x="3610410" y="-109422"/>
            <a:ext cx="1923179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- MODEL</a:t>
            </a:r>
          </a:p>
        </p:txBody>
      </p:sp>
    </p:spTree>
    <p:extLst>
      <p:ext uri="{BB962C8B-B14F-4D97-AF65-F5344CB8AC3E}">
        <p14:creationId xmlns:p14="http://schemas.microsoft.com/office/powerpoint/2010/main" val="2747390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– AI/ML Model Design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8641A3-F88C-4C46-80B9-85E5793BD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254A6-42EC-4FB7-B0A1-1DF1C01A9A9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8E0C85-AC3F-469F-8BAB-67261D1D949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E4610B-61AE-4358-9F74-BEB144152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1" y="527019"/>
            <a:ext cx="9144000" cy="399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64974964-9AA4-4A39-AAA5-36FAC518D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7019"/>
            <a:ext cx="9144000" cy="399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148;p4">
            <a:extLst>
              <a:ext uri="{FF2B5EF4-FFF2-40B4-BE49-F238E27FC236}">
                <a16:creationId xmlns:a16="http://schemas.microsoft.com/office/drawing/2014/main" id="{2CE19533-BE39-4A38-BFF0-42E3AAC37A35}"/>
              </a:ext>
            </a:extLst>
          </p:cNvPr>
          <p:cNvSpPr txBox="1">
            <a:spLocks/>
          </p:cNvSpPr>
          <p:nvPr/>
        </p:nvSpPr>
        <p:spPr>
          <a:xfrm>
            <a:off x="3610410" y="-96897"/>
            <a:ext cx="1923179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- MODEL</a:t>
            </a:r>
          </a:p>
        </p:txBody>
      </p:sp>
    </p:spTree>
    <p:extLst>
      <p:ext uri="{BB962C8B-B14F-4D97-AF65-F5344CB8AC3E}">
        <p14:creationId xmlns:p14="http://schemas.microsoft.com/office/powerpoint/2010/main" val="1856132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– AI/ML Model Design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8641A3-F88C-4C46-80B9-85E5793BD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254A6-42EC-4FB7-B0A1-1DF1C01A9A9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8E0C85-AC3F-469F-8BAB-67261D1D949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Google Shape;148;p4">
            <a:extLst>
              <a:ext uri="{FF2B5EF4-FFF2-40B4-BE49-F238E27FC236}">
                <a16:creationId xmlns:a16="http://schemas.microsoft.com/office/drawing/2014/main" id="{2CE19533-BE39-4A38-BFF0-42E3AAC37A35}"/>
              </a:ext>
            </a:extLst>
          </p:cNvPr>
          <p:cNvSpPr txBox="1">
            <a:spLocks/>
          </p:cNvSpPr>
          <p:nvPr/>
        </p:nvSpPr>
        <p:spPr>
          <a:xfrm>
            <a:off x="3888434" y="-98103"/>
            <a:ext cx="1015378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9BA959-5081-488F-B4D6-60C7507EF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0834"/>
            <a:ext cx="9144000" cy="322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27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– AI/ML Model Design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8641A3-F88C-4C46-80B9-85E5793BD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254A6-42EC-4FB7-B0A1-1DF1C01A9A9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8E0C85-AC3F-469F-8BAB-67261D1D949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Google Shape;148;p4">
            <a:extLst>
              <a:ext uri="{FF2B5EF4-FFF2-40B4-BE49-F238E27FC236}">
                <a16:creationId xmlns:a16="http://schemas.microsoft.com/office/drawing/2014/main" id="{2CE19533-BE39-4A38-BFF0-42E3AAC37A35}"/>
              </a:ext>
            </a:extLst>
          </p:cNvPr>
          <p:cNvSpPr txBox="1">
            <a:spLocks/>
          </p:cNvSpPr>
          <p:nvPr/>
        </p:nvSpPr>
        <p:spPr>
          <a:xfrm>
            <a:off x="3888434" y="-98103"/>
            <a:ext cx="1015378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1BFC8-CBDA-4A46-AA44-D164DB13D9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47" r="8906" b="3581"/>
          <a:stretch/>
        </p:blipFill>
        <p:spPr>
          <a:xfrm>
            <a:off x="0" y="593253"/>
            <a:ext cx="9136080" cy="424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00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– AI/ML Model Design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8641A3-F88C-4C46-80B9-85E5793BD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254A6-42EC-4FB7-B0A1-1DF1C01A9A9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8E0C85-AC3F-469F-8BAB-67261D1D949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Google Shape;148;p4">
            <a:extLst>
              <a:ext uri="{FF2B5EF4-FFF2-40B4-BE49-F238E27FC236}">
                <a16:creationId xmlns:a16="http://schemas.microsoft.com/office/drawing/2014/main" id="{2CE19533-BE39-4A38-BFF0-42E3AAC37A35}"/>
              </a:ext>
            </a:extLst>
          </p:cNvPr>
          <p:cNvSpPr txBox="1">
            <a:spLocks/>
          </p:cNvSpPr>
          <p:nvPr/>
        </p:nvSpPr>
        <p:spPr>
          <a:xfrm>
            <a:off x="4002682" y="-133087"/>
            <a:ext cx="1138636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SARIMA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800311-7E78-45D1-B32C-BBB27C80A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5115"/>
            <a:ext cx="9144000" cy="329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780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– AI/ML Model Design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8641A3-F88C-4C46-80B9-85E5793BD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254A6-42EC-4FB7-B0A1-1DF1C01A9A9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8E0C85-AC3F-469F-8BAB-67261D1D949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Google Shape;148;p4">
            <a:extLst>
              <a:ext uri="{FF2B5EF4-FFF2-40B4-BE49-F238E27FC236}">
                <a16:creationId xmlns:a16="http://schemas.microsoft.com/office/drawing/2014/main" id="{2CE19533-BE39-4A38-BFF0-42E3AAC37A35}"/>
              </a:ext>
            </a:extLst>
          </p:cNvPr>
          <p:cNvSpPr txBox="1">
            <a:spLocks/>
          </p:cNvSpPr>
          <p:nvPr/>
        </p:nvSpPr>
        <p:spPr>
          <a:xfrm>
            <a:off x="4002682" y="-133087"/>
            <a:ext cx="1138636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SARIMA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70A55E-AFDF-4175-AE0C-E73D8D2254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227"/>
          <a:stretch/>
        </p:blipFill>
        <p:spPr>
          <a:xfrm>
            <a:off x="0" y="560784"/>
            <a:ext cx="9144000" cy="433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90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xfrm>
            <a:off x="814275" y="369523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ERP Integration with Salesforce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313F4F-D7C8-4534-8FDF-B7CFDDC39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28C5C2-6C5A-4ADC-9B31-D74D91045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58" y="1278832"/>
            <a:ext cx="789900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>
              <a:buClr>
                <a:schemeClr val="accent1"/>
              </a:buClr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Real-Time Data Sync with Swift ERP</a:t>
            </a:r>
          </a:p>
          <a:p>
            <a:pPr marL="0">
              <a:buClr>
                <a:schemeClr val="accent1"/>
              </a:buClr>
            </a:pPr>
            <a:endParaRPr lang="en-US" sz="16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lvl="0">
              <a:buClr>
                <a:schemeClr val="accent1"/>
              </a:buClr>
              <a:tabLst>
                <a:tab pos="228600" algn="l"/>
              </a:tabLst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Key Points:</a:t>
            </a:r>
          </a:p>
          <a:p>
            <a:pPr lvl="0">
              <a:buClr>
                <a:schemeClr val="accent1"/>
              </a:buClr>
              <a:tabLst>
                <a:tab pos="228600" algn="l"/>
              </a:tabLst>
            </a:pPr>
            <a:endParaRPr lang="en-US" sz="16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marL="342900" lvl="0" indent="-342900">
              <a:buClr>
                <a:schemeClr val="accent1"/>
              </a:buClr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Integration Type: 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Outbound Webhook from Swift to Salesforce</a:t>
            </a:r>
          </a:p>
          <a:p>
            <a:pPr marL="342900" lvl="0" indent="-342900">
              <a:buClr>
                <a:schemeClr val="accent1"/>
              </a:buClr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Authentication: 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OAuth 2.0 used for secure communication</a:t>
            </a:r>
          </a:p>
          <a:p>
            <a:pPr marL="342900" lvl="0" indent="-342900">
              <a:buClr>
                <a:schemeClr val="accent1"/>
              </a:buClr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Webhook Functionality:</a:t>
            </a:r>
            <a:b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- 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Swift sends fleet status updates &amp; alerts to Salesforce</a:t>
            </a:r>
            <a:b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- Webhook endpoint built in Swift Workflow.</a:t>
            </a:r>
          </a:p>
          <a:p>
            <a:pPr marL="342900" lvl="0" indent="-342900">
              <a:buClr>
                <a:schemeClr val="accent1"/>
              </a:buClr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Data Handling:</a:t>
            </a:r>
            <a:b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- Incoming data is parsed and mapped to custom Salesforce objects</a:t>
            </a:r>
            <a:b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- Custom objects used: </a:t>
            </a:r>
            <a:r>
              <a:rPr lang="en-US" sz="1600" dirty="0" err="1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Fleet_Status__c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Fleet_Alert__c</a:t>
            </a:r>
            <a:endParaRPr lang="en-US" sz="1600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marL="342900" lvl="0" indent="-342900">
              <a:buClr>
                <a:schemeClr val="accent1"/>
              </a:buClr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Business Impact:</a:t>
            </a:r>
            <a:b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- Real-time visibility of fleet conditions</a:t>
            </a:r>
            <a:b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- Enables preventive actions within Salesforce</a:t>
            </a:r>
          </a:p>
        </p:txBody>
      </p:sp>
    </p:spTree>
    <p:extLst>
      <p:ext uri="{BB962C8B-B14F-4D97-AF65-F5344CB8AC3E}">
        <p14:creationId xmlns:p14="http://schemas.microsoft.com/office/powerpoint/2010/main" val="3002577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– AI/ML Model Design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8641A3-F88C-4C46-80B9-85E5793BD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254A6-42EC-4FB7-B0A1-1DF1C01A9A9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C60EA1-9A09-4CD3-AFBD-33E3359F8B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92" r="1176"/>
          <a:stretch/>
        </p:blipFill>
        <p:spPr>
          <a:xfrm>
            <a:off x="0" y="-68468"/>
            <a:ext cx="9105400" cy="3602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602914-4CAD-4006-8DB0-6353A9B5B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300" y="1974797"/>
            <a:ext cx="9144000" cy="316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135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xfrm>
            <a:off x="814275" y="369523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Alert Generation &amp; Anomaly Detection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313F4F-D7C8-4534-8FDF-B7CFDDC39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28C5C2-6C5A-4ADC-9B31-D74D91045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58" y="1401943"/>
            <a:ext cx="839078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>
              <a:buClr>
                <a:schemeClr val="accent1"/>
              </a:buClr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Intelligent Alerting and Feedback Loop</a:t>
            </a:r>
          </a:p>
          <a:p>
            <a:pPr marL="342900" lvl="0" indent="-342900">
              <a:buClr>
                <a:schemeClr val="accent1"/>
              </a:buClr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Key Points:</a:t>
            </a:r>
          </a:p>
          <a:p>
            <a:pPr marL="342900" lvl="0" indent="-342900">
              <a:buClr>
                <a:schemeClr val="accent1"/>
              </a:buClr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Alert Handling Logic in Salesforce:</a:t>
            </a:r>
            <a:b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- On receiving data from Swift, system checks fleet status</a:t>
            </a:r>
            <a:b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- If Status = Critical, assign mechanic a task of critical Fleet.</a:t>
            </a:r>
          </a:p>
          <a:p>
            <a:pPr marL="342900" lvl="0" indent="-342900">
              <a:buClr>
                <a:schemeClr val="accent1"/>
              </a:buClr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Mechanic Action Workflow:</a:t>
            </a:r>
            <a:b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- Mechanic updates vehicle status post-repair (e.g., Critical → Operational)</a:t>
            </a:r>
            <a:b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- Status change stored in </a:t>
            </a:r>
            <a:r>
              <a:rPr lang="en-US" sz="1600" dirty="0" err="1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Fleet_Status__c</a:t>
            </a: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object</a:t>
            </a:r>
          </a:p>
          <a:p>
            <a:pPr marL="342900" lvl="0" indent="-342900">
              <a:buClr>
                <a:schemeClr val="accent1"/>
              </a:buClr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Sync Back to Swift:</a:t>
            </a:r>
            <a:b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- Salesforce pushes updated status to Swift via outbound callout</a:t>
            </a:r>
            <a:b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- Maintains data consistency across both systems</a:t>
            </a:r>
          </a:p>
          <a:p>
            <a:pPr marL="342900" lvl="0" indent="-342900">
              <a:buClr>
                <a:schemeClr val="accent1"/>
              </a:buClr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Business Value:</a:t>
            </a:r>
            <a:br>
              <a:rPr 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- Reduces downtime through fast response</a:t>
            </a:r>
            <a:b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</a:rPr>
              <a:t>  - Ensures Swift ERP stays updated with latest maintenance actions</a:t>
            </a:r>
          </a:p>
        </p:txBody>
      </p:sp>
    </p:spTree>
    <p:extLst>
      <p:ext uri="{BB962C8B-B14F-4D97-AF65-F5344CB8AC3E}">
        <p14:creationId xmlns:p14="http://schemas.microsoft.com/office/powerpoint/2010/main" val="7115126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f65f45ca1_0_16"/>
          <p:cNvSpPr txBox="1">
            <a:spLocks noGrp="1"/>
          </p:cNvSpPr>
          <p:nvPr>
            <p:ph type="title"/>
          </p:nvPr>
        </p:nvSpPr>
        <p:spPr>
          <a:xfrm>
            <a:off x="814275" y="291988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Google Shape;171;g31f65f45ca1_0_16"/>
          <p:cNvSpPr txBox="1">
            <a:spLocks noGrp="1"/>
          </p:cNvSpPr>
          <p:nvPr>
            <p:ph type="sldNum" idx="12"/>
          </p:nvPr>
        </p:nvSpPr>
        <p:spPr>
          <a:xfrm>
            <a:off x="7656600" y="4630741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 dirty="0"/>
          </a:p>
        </p:txBody>
      </p:sp>
      <p:sp>
        <p:nvSpPr>
          <p:cNvPr id="172" name="Google Shape;172;g31f65f45ca1_0_16"/>
          <p:cNvSpPr/>
          <p:nvPr/>
        </p:nvSpPr>
        <p:spPr>
          <a:xfrm>
            <a:off x="315223" y="523331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1f65f45ca1_0_16"/>
          <p:cNvSpPr/>
          <p:nvPr/>
        </p:nvSpPr>
        <p:spPr>
          <a:xfrm>
            <a:off x="457200" y="4010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5D008F-9C05-417E-BF94-648EF5DAD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02326E8-CA54-4DFD-AAA9-C989A3F753F0}"/>
              </a:ext>
            </a:extLst>
          </p:cNvPr>
          <p:cNvSpPr/>
          <p:nvPr/>
        </p:nvSpPr>
        <p:spPr>
          <a:xfrm>
            <a:off x="0" y="1058188"/>
            <a:ext cx="9144000" cy="4085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DA7101-3AE8-4D5A-BF2D-C4C0C2E47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7149"/>
            <a:ext cx="8007212" cy="420635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91E45C-2ABB-4D7B-A43F-0D7DFD5822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9D53D-4EDD-43AA-B402-34AB2A6C157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F92C62-2A07-4A48-97C8-60AB246F70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4"/>
          <a:stretch/>
        </p:blipFill>
        <p:spPr>
          <a:xfrm>
            <a:off x="0" y="476409"/>
            <a:ext cx="9144000" cy="422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73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91E45C-2ABB-4D7B-A43F-0D7DFD5822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9D53D-4EDD-43AA-B402-34AB2A6C157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63EA9-60A1-472A-BBCF-E54F2C5B7F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88"/>
          <a:stretch/>
        </p:blipFill>
        <p:spPr>
          <a:xfrm>
            <a:off x="0" y="599354"/>
            <a:ext cx="9144000" cy="398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633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91E45C-2ABB-4D7B-A43F-0D7DFD5822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9D53D-4EDD-43AA-B402-34AB2A6C157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93B6A9-91B4-4C19-AB2A-1F8C411DB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491"/>
            <a:ext cx="9144000" cy="366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58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91E45C-2ABB-4D7B-A43F-0D7DFD5822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9D53D-4EDD-43AA-B402-34AB2A6C1571}"/>
              </a:ext>
            </a:extLst>
          </p:cNvPr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DA4161-6479-4334-8082-0C85B85FC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22" y="0"/>
            <a:ext cx="731875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34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242" name="Google Shape;242;p1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3" name="Google Shape;243;p17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4" name="Google Shape;244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AA4C24C2-CE6E-41E5-8F3A-7D88E25A0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8132A-182E-4399-81D2-48FCEC7012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2216" y="1505594"/>
            <a:ext cx="890660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-285750" defTabSz="914400" eaLnBrk="0" fontAlgn="base" latinLnBrk="0" hangingPunct="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Arial"/>
              </a:rPr>
              <a:t>Fleet-Wide Deployment</a:t>
            </a:r>
            <a:b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Arial"/>
              </a:rPr>
            </a:b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Arial"/>
              </a:rPr>
              <a:t>Scale the system for real-world deployment across an entire catering vehicle fleet.</a:t>
            </a:r>
          </a:p>
          <a:p>
            <a:pPr marL="0" lvl="0" indent="-285750" defTabSz="914400" eaLnBrk="0" fontAlgn="base" latinLnBrk="0" hangingPunct="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Arial"/>
              </a:rPr>
              <a:t>Sensor Expansion</a:t>
            </a:r>
            <a:b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Arial"/>
              </a:rPr>
            </a:b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Arial"/>
              </a:rPr>
              <a:t>Integrate additional sensors (e.g., fuel flow, brake wear, humidity) for deeper diagnostics.</a:t>
            </a:r>
          </a:p>
          <a:p>
            <a:pPr marL="0" lvl="0" indent="-285750" defTabSz="914400" eaLnBrk="0" fontAlgn="base" latinLnBrk="0" hangingPunct="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Arial"/>
              </a:rPr>
              <a:t>Edge AI Integration</a:t>
            </a:r>
            <a:b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Arial"/>
              </a:rPr>
            </a:b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Arial"/>
              </a:rPr>
              <a:t>Run basic anomaly detection models directly on the ESP32 for faster response without cloud dependency.</a:t>
            </a:r>
          </a:p>
          <a:p>
            <a:pPr marL="0" lvl="0" indent="-285750" defTabSz="914400" eaLnBrk="0" fontAlgn="base" latinLnBrk="0" hangingPunct="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6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Arial"/>
              </a:rPr>
              <a:t>Dynamic Route Optimization</a:t>
            </a:r>
          </a:p>
          <a:p>
            <a:pPr marL="0" lvl="0" indent="0" defTabSz="914400" eaLnBrk="0" fontAlgn="base" latinLnBrk="0" hangingPunct="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Tx/>
              <a:buNone/>
              <a:tabLst/>
            </a:pPr>
            <a:r>
              <a:rPr lang="en-US" altLang="en-US" sz="16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Arial"/>
              </a:rPr>
              <a:t>Use real-time vehicle health + traffic data to reroute vehicles safely and efficiently.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 txBox="1">
            <a:spLocks noGrp="1"/>
          </p:cNvSpPr>
          <p:nvPr>
            <p:ph type="body" idx="1"/>
          </p:nvPr>
        </p:nvSpPr>
        <p:spPr>
          <a:xfrm>
            <a:off x="118908" y="1349451"/>
            <a:ext cx="4283610" cy="345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A5172"/>
                </a:solidFill>
                <a:effectLst/>
                <a:uLnTx/>
                <a:uFillTx/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WAHAJ RAZA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A5172"/>
                </a:solidFill>
                <a:effectLst/>
                <a:uLnTx/>
                <a:uFillTx/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21055</a:t>
            </a:r>
          </a:p>
          <a:p>
            <a:pPr marL="342900" lvl="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Real Time Dashboard Graphs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Alerts &amp; notification system (Swift App)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ML Model </a:t>
            </a:r>
            <a:r>
              <a:rPr lang="en-US" sz="1800" dirty="0" err="1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RnD</a:t>
            </a: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 &amp; Training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Deployment Ready ML Model Pipeline Development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Database Schema Definition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Webhooks for alerts &amp; notifications  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Middleware-DB-frontend integration</a:t>
            </a:r>
            <a:endParaRPr sz="1800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342900" lvl="0" indent="-215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sz="1800" dirty="0"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title"/>
          </p:nvPr>
        </p:nvSpPr>
        <p:spPr>
          <a:xfrm>
            <a:off x="814276" y="410332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INDIVIDUAL’S CONTRIBUTION IN ACHIEVING MILESTONES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5" name="Google Shape;255;p1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56" name="Google Shape;256;p18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265" name="Google Shape;265;p1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6" name="Google Shape;266;p18"/>
          <p:cNvCxnSpPr/>
          <p:nvPr/>
        </p:nvCxnSpPr>
        <p:spPr>
          <a:xfrm>
            <a:off x="4473812" y="1532756"/>
            <a:ext cx="0" cy="3163300"/>
          </a:xfrm>
          <a:prstGeom prst="straightConnector1">
            <a:avLst/>
          </a:prstGeom>
          <a:noFill/>
          <a:ln w="9525" cap="flat" cmpd="sng">
            <a:solidFill>
              <a:srgbClr val="3B507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7590F826-59B1-49FB-8A38-C95576883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21" name="Google Shape;253;p18">
            <a:extLst>
              <a:ext uri="{FF2B5EF4-FFF2-40B4-BE49-F238E27FC236}">
                <a16:creationId xmlns:a16="http://schemas.microsoft.com/office/drawing/2014/main" id="{00436594-BDAA-4783-94F5-3CDFD1E6AF1B}"/>
              </a:ext>
            </a:extLst>
          </p:cNvPr>
          <p:cNvSpPr txBox="1">
            <a:spLocks/>
          </p:cNvSpPr>
          <p:nvPr/>
        </p:nvSpPr>
        <p:spPr>
          <a:xfrm>
            <a:off x="4616401" y="1341230"/>
            <a:ext cx="4542965" cy="345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indent="0" algn="ctr">
              <a:spcBef>
                <a:spcPts val="0"/>
              </a:spcBef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HUZAIFA NASEER KHAN</a:t>
            </a:r>
            <a:endParaRPr lang="en-US"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Arial"/>
            </a:endParaRPr>
          </a:p>
          <a:p>
            <a:pPr marL="0" indent="0" algn="ctr">
              <a:spcBef>
                <a:spcPts val="0"/>
              </a:spcBef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21067</a:t>
            </a:r>
            <a:endParaRPr lang="en-US"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Arial"/>
            </a:endParaRP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Readings and Alerts table on dashboard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Google Maps integration for real-time location monitoring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Mock sensor data simulation for testing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ESP32 Firmware development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Sensors integration with microcontroller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Hardware assembly</a:t>
            </a:r>
          </a:p>
          <a:p>
            <a:pPr marL="342900" indent="-215900">
              <a:buFont typeface="Noto Sans Symbols"/>
              <a:buNone/>
            </a:pPr>
            <a:endParaRPr lang="en-US" sz="1800" dirty="0"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97369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title"/>
          </p:nvPr>
        </p:nvSpPr>
        <p:spPr>
          <a:xfrm>
            <a:off x="814276" y="410332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INDIVIDUAL’S CONTRIBUTION IN ACHIEVING MILESTONES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5" name="Google Shape;255;p1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56" name="Google Shape;256;p18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265" name="Google Shape;265;p1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6" name="Google Shape;266;p18"/>
          <p:cNvCxnSpPr/>
          <p:nvPr/>
        </p:nvCxnSpPr>
        <p:spPr>
          <a:xfrm>
            <a:off x="4450760" y="1532756"/>
            <a:ext cx="0" cy="3163300"/>
          </a:xfrm>
          <a:prstGeom prst="straightConnector1">
            <a:avLst/>
          </a:prstGeom>
          <a:noFill/>
          <a:ln w="9525" cap="flat" cmpd="sng">
            <a:solidFill>
              <a:srgbClr val="3B507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7590F826-59B1-49FB-8A38-C95576883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sp>
        <p:nvSpPr>
          <p:cNvPr id="23" name="Google Shape;253;p18">
            <a:extLst>
              <a:ext uri="{FF2B5EF4-FFF2-40B4-BE49-F238E27FC236}">
                <a16:creationId xmlns:a16="http://schemas.microsoft.com/office/drawing/2014/main" id="{52132D56-B6E2-430B-AE44-1E53EB891157}"/>
              </a:ext>
            </a:extLst>
          </p:cNvPr>
          <p:cNvSpPr txBox="1">
            <a:spLocks/>
          </p:cNvSpPr>
          <p:nvPr/>
        </p:nvSpPr>
        <p:spPr>
          <a:xfrm>
            <a:off x="4721410" y="1387871"/>
            <a:ext cx="4207438" cy="345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101600" indent="0" algn="ctr">
              <a:buNone/>
            </a:pPr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MUZAMMIL RIZVI</a:t>
            </a:r>
            <a:b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</a:br>
            <a:r>
              <a:rPr lang="en-US" sz="1800" b="1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21089</a:t>
            </a:r>
            <a:endParaRPr lang="en-US" sz="1800" b="1" dirty="0">
              <a:solidFill>
                <a:srgbClr val="3A5172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</a:endParaRP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Sensor data integration into DB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Webhooks for Real-Time updates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 Salesforce Integration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 </a:t>
            </a: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Tickets and alert generation logic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Sync Swift with Salesforce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ML Model </a:t>
            </a:r>
            <a:r>
              <a:rPr lang="en-US" sz="1800" dirty="0" err="1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RnD</a:t>
            </a: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 &amp; Training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ML Model Deployments</a:t>
            </a:r>
          </a:p>
        </p:txBody>
      </p:sp>
      <p:sp>
        <p:nvSpPr>
          <p:cNvPr id="20" name="Google Shape;253;p18">
            <a:extLst>
              <a:ext uri="{FF2B5EF4-FFF2-40B4-BE49-F238E27FC236}">
                <a16:creationId xmlns:a16="http://schemas.microsoft.com/office/drawing/2014/main" id="{398D278E-C2E3-4BAE-8C44-A72B4A1F6E56}"/>
              </a:ext>
            </a:extLst>
          </p:cNvPr>
          <p:cNvSpPr txBox="1">
            <a:spLocks/>
          </p:cNvSpPr>
          <p:nvPr/>
        </p:nvSpPr>
        <p:spPr>
          <a:xfrm>
            <a:off x="247774" y="1387871"/>
            <a:ext cx="4110958" cy="345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A5172"/>
                </a:solidFill>
                <a:effectLst/>
                <a:uLnTx/>
                <a:uFillTx/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FARRUKH NIAZ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3A5172"/>
              </a:solidFill>
              <a:effectLst/>
              <a:uLnTx/>
              <a:uFillTx/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A5172"/>
                </a:solidFill>
                <a:effectLst/>
                <a:uLnTx/>
                <a:uFillTx/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CS – 21064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3A5172"/>
              </a:solidFill>
              <a:effectLst/>
              <a:uLnTx/>
              <a:uFillTx/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Arial"/>
            </a:endParaRP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Research for sensors and ML models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Widget for alerts/notifications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Ensure accurate data forwarding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Project flow/timeline diagrams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View &amp; Entry forms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Input validation mechanisms</a:t>
            </a:r>
          </a:p>
          <a:p>
            <a:pPr marL="342900" indent="-342900">
              <a:buFont typeface="Noto Sans Symbols"/>
              <a:buChar char="▪"/>
            </a:pPr>
            <a:r>
              <a:rPr lang="en-US" sz="1800" dirty="0">
                <a:solidFill>
                  <a:srgbClr val="3A5172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Documentation &amp; Research</a:t>
            </a:r>
            <a:endParaRPr lang="en-US" sz="1800" dirty="0"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3" name="Google Shape;273;p19"/>
          <p:cNvSpPr txBox="1">
            <a:spLocks noGrp="1"/>
          </p:cNvSpPr>
          <p:nvPr>
            <p:ph type="ctrTitle" idx="4294967295"/>
          </p:nvPr>
        </p:nvSpPr>
        <p:spPr>
          <a:xfrm>
            <a:off x="1275150" y="2364400"/>
            <a:ext cx="6593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</a:pPr>
            <a:r>
              <a:rPr lang="en-US" sz="6000" b="1" i="0" u="none" strike="noStrike" cap="none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Roboto Condensed"/>
              </a:rPr>
              <a:t>THANK YOU!</a:t>
            </a:r>
            <a:endParaRPr sz="6000" b="1" i="0" u="none" strike="noStrike" cap="none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Roboto Condensed"/>
            </a:endParaRPr>
          </a:p>
        </p:txBody>
      </p:sp>
      <p:sp>
        <p:nvSpPr>
          <p:cNvPr id="274" name="Google Shape;274;p19"/>
          <p:cNvSpPr txBox="1">
            <a:spLocks noGrp="1"/>
          </p:cNvSpPr>
          <p:nvPr>
            <p:ph type="subTitle" idx="4294967295"/>
          </p:nvPr>
        </p:nvSpPr>
        <p:spPr>
          <a:xfrm>
            <a:off x="1275150" y="3230000"/>
            <a:ext cx="6593700" cy="13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Roboto Condensed Light"/>
              </a:rPr>
              <a:t>Any questions?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Roboto Condensed Light"/>
            </a:endParaRPr>
          </a:p>
        </p:txBody>
      </p:sp>
      <p:grpSp>
        <p:nvGrpSpPr>
          <p:cNvPr id="275" name="Google Shape;275;p19"/>
          <p:cNvGrpSpPr/>
          <p:nvPr/>
        </p:nvGrpSpPr>
        <p:grpSpPr>
          <a:xfrm>
            <a:off x="3996210" y="966817"/>
            <a:ext cx="1197664" cy="1126777"/>
            <a:chOff x="5972700" y="2330200"/>
            <a:chExt cx="411625" cy="387275"/>
          </a:xfrm>
        </p:grpSpPr>
        <p:sp>
          <p:nvSpPr>
            <p:cNvPr id="276" name="Google Shape;276;p19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8BA9E2B-75A0-421C-9295-44C9FF32B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04" y="232696"/>
            <a:ext cx="688643" cy="694044"/>
          </a:xfrm>
          <a:prstGeom prst="rect">
            <a:avLst/>
          </a:prstGeom>
        </p:spPr>
      </p:pic>
      <p:pic>
        <p:nvPicPr>
          <p:cNvPr id="9" name="Picture 2" descr="Ephlux - Connected Customer Experience | JD Edwards | Internet of Things |  Machine Learning | Industry 4.0">
            <a:extLst>
              <a:ext uri="{FF2B5EF4-FFF2-40B4-BE49-F238E27FC236}">
                <a16:creationId xmlns:a16="http://schemas.microsoft.com/office/drawing/2014/main" id="{70A4E52F-1965-40E7-A6EB-E67526F0A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006" y="191400"/>
            <a:ext cx="817988" cy="81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</TotalTime>
  <Words>1214</Words>
  <Application>Microsoft Office PowerPoint</Application>
  <PresentationFormat>On-screen Show (16:9)</PresentationFormat>
  <Paragraphs>228</Paragraphs>
  <Slides>37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Roboto Condensed</vt:lpstr>
      <vt:lpstr>Arial</vt:lpstr>
      <vt:lpstr>Times New Roman</vt:lpstr>
      <vt:lpstr>Symbol</vt:lpstr>
      <vt:lpstr>Wingdings</vt:lpstr>
      <vt:lpstr>Arvo</vt:lpstr>
      <vt:lpstr>Calibri</vt:lpstr>
      <vt:lpstr>Noto Sans Symbols</vt:lpstr>
      <vt:lpstr>Cambria</vt:lpstr>
      <vt:lpstr>Roboto Condensed Light</vt:lpstr>
      <vt:lpstr>Salerio template</vt:lpstr>
      <vt:lpstr>Smart Asset Tracking and Predictive Maintenance System for Flight Catering Project ID  : 20   Internal Advisor ~ Dr Shahab Tehzeeb</vt:lpstr>
      <vt:lpstr>GROUP MEMBERS</vt:lpstr>
      <vt:lpstr>Project Introduction</vt:lpstr>
      <vt:lpstr>Problem Statement</vt:lpstr>
      <vt:lpstr>PowerPoint Presentation</vt:lpstr>
      <vt:lpstr>GANTT CHART</vt:lpstr>
      <vt:lpstr>Milestones Achieved Summary </vt:lpstr>
      <vt:lpstr>FLOW OF THE PROJECT</vt:lpstr>
      <vt:lpstr>FLOW OF THE PROJECT</vt:lpstr>
      <vt:lpstr>FLOW OF THE PROJECT</vt:lpstr>
      <vt:lpstr>FLOW OF THE PROJECT</vt:lpstr>
      <vt:lpstr>FLOW OF THE PROJECT</vt:lpstr>
      <vt:lpstr>FLOW OF THE PROJECT</vt:lpstr>
      <vt:lpstr>Tools Used</vt:lpstr>
      <vt:lpstr>Hardware Design &amp; Sensor Integration</vt:lpstr>
      <vt:lpstr>Hardware Design &amp; Sensor Integration</vt:lpstr>
      <vt:lpstr>Hardware Design &amp; Sensor Integration</vt:lpstr>
      <vt:lpstr>Predictive Maintenance – AI/ML Model Design</vt:lpstr>
      <vt:lpstr>Predictive Maintenance – AI/ML Model Design</vt:lpstr>
      <vt:lpstr>Predictive Maintenance – AI/ML Model Design</vt:lpstr>
      <vt:lpstr>Predictive Maintenance – AI/ML Model Design</vt:lpstr>
      <vt:lpstr>Predictive Maintenance – AI/ML Model Design</vt:lpstr>
      <vt:lpstr>Predictive Maintenance – AI/ML Model Design</vt:lpstr>
      <vt:lpstr>Predictive Maintenance – AI/ML Model Design</vt:lpstr>
      <vt:lpstr>Predictive Maintenance – AI/ML Model Design</vt:lpstr>
      <vt:lpstr>ERP Integration with Salesforce</vt:lpstr>
      <vt:lpstr>Predictive Maintenance – AI/ML Model Design</vt:lpstr>
      <vt:lpstr>Alert Generation &amp; Anomaly Detection</vt:lpstr>
      <vt:lpstr>ER DIAGRAM</vt:lpstr>
      <vt:lpstr>PowerPoint Presentation</vt:lpstr>
      <vt:lpstr>PowerPoint Presentation</vt:lpstr>
      <vt:lpstr>PowerPoint Presentation</vt:lpstr>
      <vt:lpstr>PowerPoint Presentation</vt:lpstr>
      <vt:lpstr>Future Enhancements</vt:lpstr>
      <vt:lpstr>INDIVIDUAL’S CONTRIBUTION IN ACHIEVING MILESTONES</vt:lpstr>
      <vt:lpstr>INDIVIDUAL’S CONTRIBUTION IN ACHIEVING MILESTONES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Asset Tracking and Predictive Maintenance System for Flight Catering Project ID  : 20   Internal Advisor ~ Dr Shahab Tehzeeb</dc:title>
  <cp:lastModifiedBy>Wahaj Raza</cp:lastModifiedBy>
  <cp:revision>40</cp:revision>
  <dcterms:modified xsi:type="dcterms:W3CDTF">2025-06-10T14:45:03Z</dcterms:modified>
</cp:coreProperties>
</file>