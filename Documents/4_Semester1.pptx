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9" r:id="rId9"/>
    <p:sldId id="262" r:id="rId10"/>
    <p:sldId id="263" r:id="rId11"/>
    <p:sldId id="264" r:id="rId12"/>
    <p:sldId id="271" r:id="rId13"/>
    <p:sldId id="272" r:id="rId14"/>
    <p:sldId id="273" r:id="rId15"/>
    <p:sldId id="274" r:id="rId16"/>
    <p:sldId id="265" r:id="rId17"/>
    <p:sldId id="266" r:id="rId18"/>
    <p:sldId id="268" r:id="rId19"/>
    <p:sldId id="267" r:id="rId20"/>
  </p:sldIdLst>
  <p:sldSz cx="9144000" cy="5143500" type="screen16x9"/>
  <p:notesSz cx="6858000" cy="9144000"/>
  <p:embeddedFontLst>
    <p:embeddedFont>
      <p:font typeface="Arvo" panose="020B0604020202020204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Roboto Condensed" panose="020B0604020202020204" pitchFamily="2" charset="0"/>
      <p:regular r:id="rId30"/>
      <p:bold r:id="rId31"/>
      <p:italic r:id="rId32"/>
      <p:boldItalic r:id="rId33"/>
    </p:embeddedFont>
    <p:embeddedFont>
      <p:font typeface="Roboto Condensed Light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glK51JUJfIA+BJi6zKwyz8n1l+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8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f65f45ca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1f65f45ca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f65f45ca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1f65f45ca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7607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f65f45ca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1f65f45ca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495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5082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1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1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1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1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7" cy="6522736"/>
          </a:xfrm>
        </p:grpSpPr>
        <p:sp>
          <p:nvSpPr>
            <p:cNvPr id="15" name="Google Shape;15;p21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1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1"/>
          <p:cNvGrpSpPr/>
          <p:nvPr/>
        </p:nvGrpSpPr>
        <p:grpSpPr>
          <a:xfrm>
            <a:off x="3677236" y="4278349"/>
            <a:ext cx="5480828" cy="432996"/>
            <a:chOff x="5582265" y="4646738"/>
            <a:chExt cx="5480828" cy="432996"/>
          </a:xfrm>
        </p:grpSpPr>
        <p:sp>
          <p:nvSpPr>
            <p:cNvPr id="18" name="Google Shape;18;p21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" name="Google Shape;19;p21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1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1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22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25" name="Google Shape;25;p22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26" name="Google Shape;26;p22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27" name="Google Shape;27;p22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28" name="Google Shape;28;p22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29" name="Google Shape;29;p22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30" name="Google Shape;30;p22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31" name="Google Shape;31;p22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32" name="Google Shape;32;p22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3" name="Google Shape;33;p22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" name="Google Shape;34;p2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5" name="Google Shape;35;p22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" name="Google Shape;37;p22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8" name="Google Shape;38;p22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2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" name="Google Shape;40;p2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23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44" name="Google Shape;44;p2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45" name="Google Shape;45;p23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46" name="Google Shape;46;p23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7" name="Google Shape;47;p23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8" name="Google Shape;48;p23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49" name="Google Shape;49;p23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50" name="Google Shape;50;p23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1" name="Google Shape;51;p2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52" name="Google Shape;52;p2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" name="Google Shape;53;p2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4" name="Google Shape;54;p2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" name="Google Shape;56;p2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7" name="Google Shape;57;p2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24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65" name="Google Shape;65;p2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" name="Google Shape;66;p2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7" name="Google Shape;67;p2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69;p2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0" name="Google Shape;70;p2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2" name="Google Shape;72;p2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3" name="Google Shape;73;p2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" name="Google Shape;74;p2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5" name="Google Shape;75;p2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2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2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8" name="Google Shape;78;p2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" name="Google Shape;80;p2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2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83" name="Google Shape;83;p2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" name="Google Shape;84;p2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85" name="Google Shape;85;p2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2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88" name="Google Shape;88;p2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0" name="Google Shape;90;p2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91" name="Google Shape;91;p2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92" name="Google Shape;92;p2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93" name="Google Shape;93;p2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94" name="Google Shape;94;p2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95" name="Google Shape;95;p2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96" name="Google Shape;96;p2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97" name="Google Shape;97;p2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03" name="Google Shape;103;p26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04" name="Google Shape;104;p26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6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06" name="Google Shape;106;p26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107" name="Google Shape;107;p26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08" name="Google Shape;108;p26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09" name="Google Shape;109;p2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0" name="Google Shape;110;p2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" name="Google Shape;111;p2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2" name="Google Shape;112;p2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" name="Google Shape;114;p2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5" name="Google Shape;115;p2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7" name="Google Shape;117;p26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>
            <a:spLocks noGrp="1"/>
          </p:cNvSpPr>
          <p:nvPr>
            <p:ph type="ctrTitle"/>
          </p:nvPr>
        </p:nvSpPr>
        <p:spPr>
          <a:xfrm>
            <a:off x="5" y="1319888"/>
            <a:ext cx="6037800" cy="25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Asset Tracking and Predictive Maintenance System for Flight Catering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  : 20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Advisor ~ Dr Shahab Tehzeeb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F3F726-348F-4381-8FBB-329F0B7BE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680" y="3334871"/>
            <a:ext cx="688643" cy="694044"/>
          </a:xfrm>
          <a:prstGeom prst="rect">
            <a:avLst/>
          </a:prstGeom>
        </p:spPr>
      </p:pic>
      <p:pic>
        <p:nvPicPr>
          <p:cNvPr id="1026" name="Picture 2" descr="Ephlux - Connected Customer Experience | JD Edwards | Internet of Things |  Machine Learning | Industry 4.0">
            <a:extLst>
              <a:ext uri="{FF2B5EF4-FFF2-40B4-BE49-F238E27FC236}">
                <a16:creationId xmlns:a16="http://schemas.microsoft.com/office/drawing/2014/main" id="{DE6A0D97-7CAD-49E8-8D0E-E94383BAE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671" y="3272400"/>
            <a:ext cx="817988" cy="81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466978" y="1897955"/>
            <a:ext cx="1961178" cy="1767330"/>
          </a:xfrm>
          <a:prstGeom prst="rect">
            <a:avLst/>
          </a:prstGeom>
          <a:solidFill>
            <a:srgbClr val="E8EDF3"/>
          </a:solidFill>
          <a:ln w="25400" cap="flat" cmpd="sng">
            <a:solidFill>
              <a:srgbClr val="2D3C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WAHAJ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RAZA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</a:t>
            </a: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21055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CGPA  : 3.</a:t>
            </a: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97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2576713" y="1897955"/>
            <a:ext cx="1961177" cy="1767330"/>
          </a:xfrm>
          <a:prstGeom prst="rect">
            <a:avLst/>
          </a:prstGeom>
          <a:solidFill>
            <a:srgbClr val="E8EDF3"/>
          </a:solidFill>
          <a:ln w="25400" cap="flat" cmpd="sng">
            <a:solidFill>
              <a:srgbClr val="2D3C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FARRUKH NIAZ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21064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CGPA : 3.2 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4684699" y="1897956"/>
            <a:ext cx="1961177" cy="1767329"/>
          </a:xfrm>
          <a:prstGeom prst="rect">
            <a:avLst/>
          </a:prstGeom>
          <a:solidFill>
            <a:srgbClr val="E8EDF3"/>
          </a:solidFill>
          <a:ln w="25400" cap="flat" cmpd="sng">
            <a:solidFill>
              <a:srgbClr val="2D3C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HUZAIFA NASEER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21067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CGPA : 3.39 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800369" y="1897956"/>
            <a:ext cx="1961177" cy="1767328"/>
          </a:xfrm>
          <a:prstGeom prst="rect">
            <a:avLst/>
          </a:prstGeom>
          <a:solidFill>
            <a:srgbClr val="E8EDF3"/>
          </a:solidFill>
          <a:ln w="25400" cap="flat" cmpd="sng">
            <a:solidFill>
              <a:srgbClr val="2D3C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MUZAMMIL RIZVI</a:t>
            </a:r>
            <a:b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</a:b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21089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CGPA  : 3.43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6F9971-FD9C-41F1-8E1B-F680D360B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 animBg="1"/>
      <p:bldP spid="134" grpId="0" animBg="1"/>
      <p:bldP spid="1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53611" y="1366406"/>
            <a:ext cx="86856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Flight Catering struggles with efficiently managing its catering vehicle fleet, which is critical for </a:t>
            </a:r>
            <a:r>
              <a:rPr lang="en-US" sz="20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delivering food</a:t>
            </a:r>
            <a:r>
              <a:rPr lang="en-US" sz="20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.</a:t>
            </a:r>
            <a:endParaRPr sz="20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The current manual tracking of </a:t>
            </a:r>
            <a:r>
              <a:rPr lang="en-US" sz="20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vehicle usage and maintenance scheduling</a:t>
            </a:r>
            <a:r>
              <a:rPr lang="en-US" sz="20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 is prone to errors and inefficiencies.</a:t>
            </a:r>
            <a:endParaRPr sz="2000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Ineffective maintenance planning leads to </a:t>
            </a:r>
            <a:r>
              <a:rPr lang="en-US" sz="20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unplanned vehicle downtime</a:t>
            </a:r>
            <a:r>
              <a:rPr lang="en-US" sz="20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, reducing fleet availability.</a:t>
            </a:r>
            <a:endParaRPr sz="2000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139BEB-D70A-424B-870E-14309AC8D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234719" y="1491409"/>
            <a:ext cx="8597100" cy="235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We got connected with </a:t>
            </a:r>
            <a:r>
              <a:rPr lang="en-US" sz="2000" i="1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Ephlux</a:t>
            </a:r>
            <a:r>
              <a:rPr lang="en-US" sz="20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 and they provided us with their platform ‘</a:t>
            </a:r>
            <a:r>
              <a:rPr lang="en-US" sz="2000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Swift</a:t>
            </a:r>
            <a:r>
              <a:rPr lang="en-US" sz="20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’ to build an IOT based solution to this problem.</a:t>
            </a:r>
            <a:endParaRPr sz="2000" b="0" i="0" u="none" strike="noStrike" cap="none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215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5172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 </a:t>
            </a:r>
            <a:endParaRPr sz="2000" b="0" i="0" u="none" strike="noStrike" cap="none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  <p:grpSp>
        <p:nvGrpSpPr>
          <p:cNvPr id="152" name="Google Shape;152;p4"/>
          <p:cNvGrpSpPr/>
          <p:nvPr/>
        </p:nvGrpSpPr>
        <p:grpSpPr>
          <a:xfrm>
            <a:off x="446010" y="2772230"/>
            <a:ext cx="8102092" cy="1786781"/>
            <a:chOff x="434864" y="2844908"/>
            <a:chExt cx="8035371" cy="1163499"/>
          </a:xfrm>
        </p:grpSpPr>
        <p:sp>
          <p:nvSpPr>
            <p:cNvPr id="153" name="Google Shape;153;p4"/>
            <p:cNvSpPr txBox="1"/>
            <p:nvPr/>
          </p:nvSpPr>
          <p:spPr>
            <a:xfrm>
              <a:off x="583535" y="2938907"/>
              <a:ext cx="7886700" cy="961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 u="none" strike="noStrike" cap="none" dirty="0">
                  <a:solidFill>
                    <a:srgbClr val="3A5172"/>
                  </a:solidFill>
                  <a:latin typeface="Times New Roman" panose="02020603050405020304" pitchFamily="18" charset="0"/>
                  <a:ea typeface="Roboto Condensed"/>
                  <a:cs typeface="Times New Roman" panose="02020603050405020304" pitchFamily="18" charset="0"/>
                  <a:sym typeface="Roboto Condensed"/>
                </a:rPr>
                <a:t>The scope of our project is to build </a:t>
              </a:r>
              <a:r>
                <a:rPr lang="en-US" sz="2000" b="1" i="1" dirty="0">
                  <a:solidFill>
                    <a:srgbClr val="3A5172"/>
                  </a:solidFill>
                  <a:latin typeface="Times New Roman" panose="02020603050405020304" pitchFamily="18" charset="0"/>
                  <a:ea typeface="Roboto Condensed"/>
                  <a:cs typeface="Times New Roman" panose="02020603050405020304" pitchFamily="18" charset="0"/>
                  <a:sym typeface="Roboto Condensed"/>
                </a:rPr>
                <a:t>Smart Asset Tracking and Predictive Maintenance System which uses IOT sensors and AI to predict vehicle maintenance needs and automate work orders, streamlining operations.</a:t>
              </a:r>
              <a:endParaRPr sz="2000" b="1" i="1" u="none" strike="noStrike" cap="none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endParaRPr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434864" y="2844908"/>
              <a:ext cx="342600" cy="5010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 dirty="0">
                  <a:solidFill>
                    <a:srgbClr val="3A517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“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8127618" y="3547307"/>
              <a:ext cx="3426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0" i="0" u="none" strike="noStrike" cap="none" dirty="0">
                  <a:solidFill>
                    <a:srgbClr val="3A517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”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6" name="Google Shape;156;p4"/>
          <p:cNvCxnSpPr/>
          <p:nvPr/>
        </p:nvCxnSpPr>
        <p:spPr>
          <a:xfrm>
            <a:off x="2365822" y="2772230"/>
            <a:ext cx="3657600" cy="0"/>
          </a:xfrm>
          <a:prstGeom prst="straightConnector1">
            <a:avLst/>
          </a:prstGeom>
          <a:noFill/>
          <a:ln w="9525" cap="flat" cmpd="sng">
            <a:solidFill>
              <a:srgbClr val="C1CDE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F313F4F-D7C8-4534-8FDF-B7CFDDC39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814275" y="291988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FLOW OF THE PROJECT</a:t>
            </a:r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sldNum" idx="12"/>
          </p:nvPr>
        </p:nvSpPr>
        <p:spPr>
          <a:xfrm>
            <a:off x="7656600" y="4644195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  <p:sp>
        <p:nvSpPr>
          <p:cNvPr id="163" name="Google Shape;163;p5"/>
          <p:cNvSpPr/>
          <p:nvPr/>
        </p:nvSpPr>
        <p:spPr>
          <a:xfrm>
            <a:off x="315223" y="523331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0D0B0-4128-44F1-A89E-B1C968B1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109CE9-247F-49A2-9514-D15E08A71D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9673"/>
          <a:stretch/>
        </p:blipFill>
        <p:spPr>
          <a:xfrm>
            <a:off x="0" y="-13874"/>
            <a:ext cx="7152245" cy="15598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A32F0D-A8DE-4F6F-864D-75CEEAC7B2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327" b="47264"/>
          <a:stretch/>
        </p:blipFill>
        <p:spPr>
          <a:xfrm>
            <a:off x="0" y="1543638"/>
            <a:ext cx="7152245" cy="11526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C947AC-823E-41E1-8D47-BC23241F56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736" b="24855"/>
          <a:stretch/>
        </p:blipFill>
        <p:spPr>
          <a:xfrm>
            <a:off x="0" y="2683809"/>
            <a:ext cx="7152245" cy="11526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63166E-A332-4FA3-97B5-F3284E028D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145"/>
          <a:stretch/>
        </p:blipFill>
        <p:spPr>
          <a:xfrm>
            <a:off x="0" y="3837003"/>
            <a:ext cx="7152245" cy="12784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f65f45ca1_0_16"/>
          <p:cNvSpPr txBox="1">
            <a:spLocks noGrp="1"/>
          </p:cNvSpPr>
          <p:nvPr>
            <p:ph type="title"/>
          </p:nvPr>
        </p:nvSpPr>
        <p:spPr>
          <a:xfrm>
            <a:off x="814275" y="291988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g31f65f45ca1_0_16"/>
          <p:cNvSpPr txBox="1">
            <a:spLocks noGrp="1"/>
          </p:cNvSpPr>
          <p:nvPr>
            <p:ph type="sldNum" idx="12"/>
          </p:nvPr>
        </p:nvSpPr>
        <p:spPr>
          <a:xfrm>
            <a:off x="7656600" y="4630741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  <p:sp>
        <p:nvSpPr>
          <p:cNvPr id="172" name="Google Shape;172;g31f65f45ca1_0_16"/>
          <p:cNvSpPr/>
          <p:nvPr/>
        </p:nvSpPr>
        <p:spPr>
          <a:xfrm>
            <a:off x="315223" y="523331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1f65f45ca1_0_16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D008F-9C05-417E-BF94-648EF5DAD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A7101-3AE8-4D5A-BF2D-C4C0C2E4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7149"/>
            <a:ext cx="8007212" cy="42063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f65f45ca1_0_16"/>
          <p:cNvSpPr txBox="1">
            <a:spLocks noGrp="1"/>
          </p:cNvSpPr>
          <p:nvPr>
            <p:ph type="sldNum" idx="12"/>
          </p:nvPr>
        </p:nvSpPr>
        <p:spPr>
          <a:xfrm>
            <a:off x="7656600" y="4630741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100"/>
              <a:t>7</a:t>
            </a:fld>
            <a:endParaRPr sz="1100" dirty="0"/>
          </a:p>
        </p:txBody>
      </p:sp>
      <p:sp>
        <p:nvSpPr>
          <p:cNvPr id="173" name="Google Shape;173;g31f65f45ca1_0_16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D008F-9C05-417E-BF94-648EF5DAD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7886-27E5-49AE-97FD-4D4DA4E7BB73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Google Shape;179;p6">
            <a:extLst>
              <a:ext uri="{FF2B5EF4-FFF2-40B4-BE49-F238E27FC236}">
                <a16:creationId xmlns:a16="http://schemas.microsoft.com/office/drawing/2014/main" id="{E028361F-71AA-40B4-81F4-B1EA550493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oogle Shape;180;p6">
            <a:extLst>
              <a:ext uri="{FF2B5EF4-FFF2-40B4-BE49-F238E27FC236}">
                <a16:creationId xmlns:a16="http://schemas.microsoft.com/office/drawing/2014/main" id="{94DF86CE-CC31-4901-9B55-D36C4C17EFDA}"/>
              </a:ext>
            </a:extLst>
          </p:cNvPr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6" name="Google Shape;181;p6">
              <a:extLst>
                <a:ext uri="{FF2B5EF4-FFF2-40B4-BE49-F238E27FC236}">
                  <a16:creationId xmlns:a16="http://schemas.microsoft.com/office/drawing/2014/main" id="{05263578-DC84-4D9D-92B2-62E1C983C227}"/>
                </a:ext>
              </a:extLst>
            </p:cNvPr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82;p6">
              <a:extLst>
                <a:ext uri="{FF2B5EF4-FFF2-40B4-BE49-F238E27FC236}">
                  <a16:creationId xmlns:a16="http://schemas.microsoft.com/office/drawing/2014/main" id="{F4000098-FBDB-4FBD-A6F3-954BF05E3051}"/>
                </a:ext>
              </a:extLst>
            </p:cNvPr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83;p6">
              <a:extLst>
                <a:ext uri="{FF2B5EF4-FFF2-40B4-BE49-F238E27FC236}">
                  <a16:creationId xmlns:a16="http://schemas.microsoft.com/office/drawing/2014/main" id="{5C3C1F0B-9051-4D39-B14F-B228C847A93C}"/>
                </a:ext>
              </a:extLst>
            </p:cNvPr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184;p6">
              <a:extLst>
                <a:ext uri="{FF2B5EF4-FFF2-40B4-BE49-F238E27FC236}">
                  <a16:creationId xmlns:a16="http://schemas.microsoft.com/office/drawing/2014/main" id="{F7032BAC-A064-4216-AA27-0C8907F2D5A0}"/>
                </a:ext>
              </a:extLst>
            </p:cNvPr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185;p6">
              <a:extLst>
                <a:ext uri="{FF2B5EF4-FFF2-40B4-BE49-F238E27FC236}">
                  <a16:creationId xmlns:a16="http://schemas.microsoft.com/office/drawing/2014/main" id="{2D4A4907-B197-4847-A7C8-98A5A7972E9B}"/>
                </a:ext>
              </a:extLst>
            </p:cNvPr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86;p6">
              <a:extLst>
                <a:ext uri="{FF2B5EF4-FFF2-40B4-BE49-F238E27FC236}">
                  <a16:creationId xmlns:a16="http://schemas.microsoft.com/office/drawing/2014/main" id="{6A651F14-FA8B-42A3-BBBB-EDBC7FE29B06}"/>
                </a:ext>
              </a:extLst>
            </p:cNvPr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87;p6">
              <a:extLst>
                <a:ext uri="{FF2B5EF4-FFF2-40B4-BE49-F238E27FC236}">
                  <a16:creationId xmlns:a16="http://schemas.microsoft.com/office/drawing/2014/main" id="{67D198E6-DAF5-4529-961D-C94888F64FC9}"/>
                </a:ext>
              </a:extLst>
            </p:cNvPr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490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f65f45ca1_0_16"/>
          <p:cNvSpPr txBox="1">
            <a:spLocks noGrp="1"/>
          </p:cNvSpPr>
          <p:nvPr>
            <p:ph type="sldNum" idx="12"/>
          </p:nvPr>
        </p:nvSpPr>
        <p:spPr>
          <a:xfrm>
            <a:off x="7656600" y="4630741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100"/>
              <a:t>8</a:t>
            </a:fld>
            <a:endParaRPr sz="1100" dirty="0"/>
          </a:p>
        </p:txBody>
      </p:sp>
      <p:sp>
        <p:nvSpPr>
          <p:cNvPr id="173" name="Google Shape;173;g31f65f45ca1_0_16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D008F-9C05-417E-BF94-648EF5DAD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7886-27E5-49AE-97FD-4D4DA4E7BB73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13E8BEE-84C0-4EC8-A20C-B592256AB655}"/>
              </a:ext>
            </a:extLst>
          </p:cNvPr>
          <p:cNvGrpSpPr/>
          <p:nvPr/>
        </p:nvGrpSpPr>
        <p:grpSpPr>
          <a:xfrm>
            <a:off x="263819" y="163628"/>
            <a:ext cx="2170497" cy="4782713"/>
            <a:chOff x="588169" y="780055"/>
            <a:chExt cx="2726531" cy="5537870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18BF2267-28C7-44BF-AEE8-EC008E0A9955}"/>
                </a:ext>
              </a:extLst>
            </p:cNvPr>
            <p:cNvSpPr/>
            <p:nvPr/>
          </p:nvSpPr>
          <p:spPr>
            <a:xfrm>
              <a:off x="588169" y="2706253"/>
              <a:ext cx="2724150" cy="1211268"/>
            </a:xfrm>
            <a:prstGeom prst="roundRect">
              <a:avLst/>
            </a:prstGeom>
            <a:gradFill rotWithShape="1">
              <a:gsLst>
                <a:gs pos="0">
                  <a:srgbClr val="ED7D31">
                    <a:satMod val="103000"/>
                    <a:lumMod val="102000"/>
                    <a:tint val="94000"/>
                  </a:srgbClr>
                </a:gs>
                <a:gs pos="50000">
                  <a:srgbClr val="ED7D31">
                    <a:satMod val="110000"/>
                    <a:lumMod val="100000"/>
                    <a:shade val="100000"/>
                  </a:srgbClr>
                </a:gs>
                <a:gs pos="100000">
                  <a:srgbClr val="ED7D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UI / UX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Prototype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Sensor Data Simulation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0793045-AEA9-465C-B1DC-7058579A841D}"/>
                </a:ext>
              </a:extLst>
            </p:cNvPr>
            <p:cNvSpPr/>
            <p:nvPr/>
          </p:nvSpPr>
          <p:spPr>
            <a:xfrm>
              <a:off x="588169" y="1391908"/>
              <a:ext cx="2724150" cy="1211268"/>
            </a:xfrm>
            <a:prstGeom prst="roundRect">
              <a:avLst/>
            </a:prstGeom>
            <a:gradFill rotWithShape="1">
              <a:gsLst>
                <a:gs pos="0">
                  <a:srgbClr val="ED7D31">
                    <a:satMod val="103000"/>
                    <a:lumMod val="102000"/>
                    <a:tint val="94000"/>
                  </a:srgbClr>
                </a:gs>
                <a:gs pos="50000">
                  <a:srgbClr val="ED7D31">
                    <a:satMod val="110000"/>
                    <a:lumMod val="100000"/>
                    <a:shade val="100000"/>
                  </a:srgbClr>
                </a:gs>
                <a:gs pos="100000">
                  <a:srgbClr val="ED7D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Overall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Architecture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Design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F9DBFFBA-55EE-445C-8710-5750DF3F8A0A}"/>
                </a:ext>
              </a:extLst>
            </p:cNvPr>
            <p:cNvSpPr/>
            <p:nvPr/>
          </p:nvSpPr>
          <p:spPr>
            <a:xfrm>
              <a:off x="590550" y="5334942"/>
              <a:ext cx="2724150" cy="982983"/>
            </a:xfrm>
            <a:prstGeom prst="roundRect">
              <a:avLst/>
            </a:prstGeom>
            <a:gradFill rotWithShape="1">
              <a:gsLst>
                <a:gs pos="0">
                  <a:srgbClr val="ED7D31">
                    <a:satMod val="103000"/>
                    <a:lumMod val="102000"/>
                    <a:tint val="94000"/>
                  </a:srgbClr>
                </a:gs>
                <a:gs pos="50000">
                  <a:srgbClr val="ED7D31">
                    <a:satMod val="110000"/>
                    <a:lumMod val="100000"/>
                    <a:shade val="100000"/>
                  </a:srgbClr>
                </a:gs>
                <a:gs pos="100000">
                  <a:srgbClr val="ED7D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Real Time Dashboard Dataflow &amp;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Alerts Generation</a:t>
              </a: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C2AC192-B963-4D0A-8FBE-9DAA92268D4A}"/>
                </a:ext>
              </a:extLst>
            </p:cNvPr>
            <p:cNvSpPr/>
            <p:nvPr/>
          </p:nvSpPr>
          <p:spPr>
            <a:xfrm>
              <a:off x="588169" y="4018758"/>
              <a:ext cx="2724150" cy="1211268"/>
            </a:xfrm>
            <a:prstGeom prst="roundRect">
              <a:avLst/>
            </a:prstGeom>
            <a:gradFill rotWithShape="1">
              <a:gsLst>
                <a:gs pos="0">
                  <a:srgbClr val="ED7D31">
                    <a:satMod val="103000"/>
                    <a:lumMod val="102000"/>
                    <a:tint val="94000"/>
                  </a:srgbClr>
                </a:gs>
                <a:gs pos="50000">
                  <a:srgbClr val="ED7D31">
                    <a:satMod val="110000"/>
                    <a:lumMod val="100000"/>
                    <a:shade val="100000"/>
                  </a:srgbClr>
                </a:gs>
                <a:gs pos="100000">
                  <a:srgbClr val="ED7D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Interface Creation of Swift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5287EAF-C9F5-469D-86F8-C02013533855}"/>
                </a:ext>
              </a:extLst>
            </p:cNvPr>
            <p:cNvSpPr/>
            <p:nvPr/>
          </p:nvSpPr>
          <p:spPr>
            <a:xfrm>
              <a:off x="588169" y="780055"/>
              <a:ext cx="2724150" cy="431211"/>
            </a:xfrm>
            <a:prstGeom prst="roundRect">
              <a:avLst/>
            </a:prstGeom>
            <a:solidFill>
              <a:srgbClr val="E7E6E6">
                <a:lumMod val="7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PHASE 1</a:t>
              </a:r>
            </a:p>
          </p:txBody>
        </p:sp>
      </p:grpSp>
      <p:sp>
        <p:nvSpPr>
          <p:cNvPr id="73" name="Arrow: Striped Right 72">
            <a:extLst>
              <a:ext uri="{FF2B5EF4-FFF2-40B4-BE49-F238E27FC236}">
                <a16:creationId xmlns:a16="http://schemas.microsoft.com/office/drawing/2014/main" id="{4759CB2B-6C5B-4BF0-80E3-6FA1777D22E1}"/>
              </a:ext>
            </a:extLst>
          </p:cNvPr>
          <p:cNvSpPr/>
          <p:nvPr/>
        </p:nvSpPr>
        <p:spPr>
          <a:xfrm>
            <a:off x="2592474" y="2571749"/>
            <a:ext cx="906900" cy="689084"/>
          </a:xfrm>
          <a:prstGeom prst="stripedRightArrow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9B0B67-D6CD-4918-B434-F8D04BC1282A}"/>
              </a:ext>
            </a:extLst>
          </p:cNvPr>
          <p:cNvGrpSpPr/>
          <p:nvPr/>
        </p:nvGrpSpPr>
        <p:grpSpPr>
          <a:xfrm>
            <a:off x="3503317" y="214857"/>
            <a:ext cx="2079615" cy="3882543"/>
            <a:chOff x="3532192" y="214857"/>
            <a:chExt cx="2079615" cy="3882543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A5B85928-0332-46D2-BF22-C52CFC2E6711}"/>
                </a:ext>
              </a:extLst>
            </p:cNvPr>
            <p:cNvSpPr/>
            <p:nvPr/>
          </p:nvSpPr>
          <p:spPr>
            <a:xfrm>
              <a:off x="3532193" y="1803467"/>
              <a:ext cx="2079614" cy="971023"/>
            </a:xfrm>
            <a:prstGeom prst="roundRect">
              <a:avLst/>
            </a:prstGeom>
            <a:gradFill rotWithShape="1">
              <a:gsLst>
                <a:gs pos="0">
                  <a:srgbClr val="FFC000">
                    <a:lumMod val="110000"/>
                    <a:satMod val="105000"/>
                    <a:tint val="67000"/>
                  </a:srgbClr>
                </a:gs>
                <a:gs pos="50000">
                  <a:srgbClr val="FFC000">
                    <a:lumMod val="105000"/>
                    <a:satMod val="103000"/>
                    <a:tint val="73000"/>
                  </a:srgbClr>
                </a:gs>
                <a:gs pos="100000">
                  <a:srgbClr val="FFC0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Device Connectivity</a:t>
              </a: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64517B00-A2C1-426B-9830-B3851BC1664F}"/>
                </a:ext>
              </a:extLst>
            </p:cNvPr>
            <p:cNvSpPr/>
            <p:nvPr/>
          </p:nvSpPr>
          <p:spPr>
            <a:xfrm>
              <a:off x="3532193" y="3126366"/>
              <a:ext cx="2079614" cy="971034"/>
            </a:xfrm>
            <a:prstGeom prst="roundRect">
              <a:avLst/>
            </a:prstGeom>
            <a:gradFill rotWithShape="1">
              <a:gsLst>
                <a:gs pos="0">
                  <a:srgbClr val="FFC000">
                    <a:lumMod val="110000"/>
                    <a:satMod val="105000"/>
                    <a:tint val="67000"/>
                  </a:srgbClr>
                </a:gs>
                <a:gs pos="50000">
                  <a:srgbClr val="FFC000">
                    <a:lumMod val="105000"/>
                    <a:satMod val="103000"/>
                    <a:tint val="73000"/>
                  </a:srgbClr>
                </a:gs>
                <a:gs pos="100000">
                  <a:srgbClr val="FFC0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ML Predictive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Model</a:t>
              </a: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230C2415-D60E-4672-BFE3-4BA3FE70C32D}"/>
                </a:ext>
              </a:extLst>
            </p:cNvPr>
            <p:cNvSpPr/>
            <p:nvPr/>
          </p:nvSpPr>
          <p:spPr>
            <a:xfrm>
              <a:off x="3532192" y="214857"/>
              <a:ext cx="2079615" cy="372411"/>
            </a:xfrm>
            <a:prstGeom prst="roundRect">
              <a:avLst/>
            </a:prstGeom>
            <a:solidFill>
              <a:srgbClr val="E7E6E6">
                <a:lumMod val="7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2000" b="1" kern="1200" noProof="1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PHASE 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582335-DDDF-41C4-99BF-2500536BCB7D}"/>
              </a:ext>
            </a:extLst>
          </p:cNvPr>
          <p:cNvGrpSpPr/>
          <p:nvPr/>
        </p:nvGrpSpPr>
        <p:grpSpPr>
          <a:xfrm>
            <a:off x="6779526" y="232696"/>
            <a:ext cx="2113795" cy="4589219"/>
            <a:chOff x="6538898" y="232696"/>
            <a:chExt cx="2113795" cy="4589219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4F12FD0C-6E7C-4846-BBEA-F6E8A2752507}"/>
                </a:ext>
              </a:extLst>
            </p:cNvPr>
            <p:cNvSpPr/>
            <p:nvPr/>
          </p:nvSpPr>
          <p:spPr>
            <a:xfrm>
              <a:off x="6551526" y="2717255"/>
              <a:ext cx="2079614" cy="971020"/>
            </a:xfrm>
            <a:prstGeom prst="round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Testing</a:t>
              </a: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7335DCDE-D85B-4470-98E5-966A691F1FEE}"/>
                </a:ext>
              </a:extLst>
            </p:cNvPr>
            <p:cNvSpPr/>
            <p:nvPr/>
          </p:nvSpPr>
          <p:spPr>
            <a:xfrm>
              <a:off x="6551526" y="1583601"/>
              <a:ext cx="2079614" cy="971034"/>
            </a:xfrm>
            <a:prstGeom prst="round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2400" b="1" i="1" kern="1200" noProof="1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Solution Integration</a:t>
              </a: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51F708F2-470F-4437-BBBC-8F92A3A65D80}"/>
                </a:ext>
              </a:extLst>
            </p:cNvPr>
            <p:cNvSpPr/>
            <p:nvPr/>
          </p:nvSpPr>
          <p:spPr>
            <a:xfrm>
              <a:off x="6573079" y="3850895"/>
              <a:ext cx="2079614" cy="971020"/>
            </a:xfrm>
            <a:prstGeom prst="round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Demo</a:t>
              </a:r>
              <a:br>
                <a:rPr kumimoji="0" lang="en-US" sz="2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</a:br>
              <a:r>
                <a:rPr kumimoji="0" lang="en-US" sz="2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Launch </a:t>
              </a: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39CD7348-6473-4F46-9659-A4E3B7D56E40}"/>
                </a:ext>
              </a:extLst>
            </p:cNvPr>
            <p:cNvSpPr/>
            <p:nvPr/>
          </p:nvSpPr>
          <p:spPr>
            <a:xfrm>
              <a:off x="6538898" y="232696"/>
              <a:ext cx="2104870" cy="344305"/>
            </a:xfrm>
            <a:prstGeom prst="roundRect">
              <a:avLst/>
            </a:prstGeom>
            <a:solidFill>
              <a:srgbClr val="E7E6E6">
                <a:lumMod val="7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2000" b="1" kern="1200" noProof="1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PHASE 3</a:t>
              </a:r>
            </a:p>
          </p:txBody>
        </p:sp>
      </p:grpSp>
      <p:sp>
        <p:nvSpPr>
          <p:cNvPr id="89" name="Arrow: Striped Right 88">
            <a:extLst>
              <a:ext uri="{FF2B5EF4-FFF2-40B4-BE49-F238E27FC236}">
                <a16:creationId xmlns:a16="http://schemas.microsoft.com/office/drawing/2014/main" id="{3FBDCD2F-E0E9-47B5-8D0C-5EED661DBC29}"/>
              </a:ext>
            </a:extLst>
          </p:cNvPr>
          <p:cNvSpPr/>
          <p:nvPr/>
        </p:nvSpPr>
        <p:spPr>
          <a:xfrm>
            <a:off x="5748533" y="2569998"/>
            <a:ext cx="906900" cy="689084"/>
          </a:xfrm>
          <a:prstGeom prst="stripedRightArrow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57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8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 ACHEIVED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0" name="Google Shape;180;p6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181" name="Google Shape;181;p6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89" name="Google Shape;189;p6"/>
          <p:cNvGrpSpPr/>
          <p:nvPr/>
        </p:nvGrpSpPr>
        <p:grpSpPr>
          <a:xfrm>
            <a:off x="1156581" y="2158933"/>
            <a:ext cx="264879" cy="1418791"/>
            <a:chOff x="1672771" y="1537909"/>
            <a:chExt cx="344715" cy="1490014"/>
          </a:xfrm>
        </p:grpSpPr>
        <p:grpSp>
          <p:nvGrpSpPr>
            <p:cNvPr id="190" name="Google Shape;190;p6"/>
            <p:cNvGrpSpPr/>
            <p:nvPr/>
          </p:nvGrpSpPr>
          <p:grpSpPr>
            <a:xfrm>
              <a:off x="1672771" y="1537909"/>
              <a:ext cx="341086" cy="247199"/>
              <a:chOff x="7177314" y="1705429"/>
              <a:chExt cx="341086" cy="247199"/>
            </a:xfrm>
          </p:grpSpPr>
          <p:cxnSp>
            <p:nvCxnSpPr>
              <p:cNvPr id="191" name="Google Shape;191;p6"/>
              <p:cNvCxnSpPr/>
              <p:nvPr/>
            </p:nvCxnSpPr>
            <p:spPr>
              <a:xfrm>
                <a:off x="7177314" y="1872343"/>
                <a:ext cx="101600" cy="72572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  <p:cxnSp>
            <p:nvCxnSpPr>
              <p:cNvPr id="192" name="Google Shape;192;p6"/>
              <p:cNvCxnSpPr/>
              <p:nvPr/>
            </p:nvCxnSpPr>
            <p:spPr>
              <a:xfrm rot="10800000" flipH="1">
                <a:off x="7264400" y="1705429"/>
                <a:ext cx="254000" cy="247199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</p:grpSp>
        <p:grpSp>
          <p:nvGrpSpPr>
            <p:cNvPr id="193" name="Google Shape;193;p6"/>
            <p:cNvGrpSpPr/>
            <p:nvPr/>
          </p:nvGrpSpPr>
          <p:grpSpPr>
            <a:xfrm>
              <a:off x="1672771" y="1860972"/>
              <a:ext cx="341186" cy="247200"/>
              <a:chOff x="7177314" y="1705428"/>
              <a:chExt cx="341186" cy="247200"/>
            </a:xfrm>
          </p:grpSpPr>
          <p:cxnSp>
            <p:nvCxnSpPr>
              <p:cNvPr id="194" name="Google Shape;194;p6"/>
              <p:cNvCxnSpPr/>
              <p:nvPr/>
            </p:nvCxnSpPr>
            <p:spPr>
              <a:xfrm>
                <a:off x="7177314" y="1872343"/>
                <a:ext cx="101600" cy="72572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  <p:cxnSp>
            <p:nvCxnSpPr>
              <p:cNvPr id="195" name="Google Shape;195;p6"/>
              <p:cNvCxnSpPr/>
              <p:nvPr/>
            </p:nvCxnSpPr>
            <p:spPr>
              <a:xfrm rot="10800000" flipH="1">
                <a:off x="7264400" y="1705428"/>
                <a:ext cx="254100" cy="24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</p:grpSp>
        <p:grpSp>
          <p:nvGrpSpPr>
            <p:cNvPr id="196" name="Google Shape;196;p6"/>
            <p:cNvGrpSpPr/>
            <p:nvPr/>
          </p:nvGrpSpPr>
          <p:grpSpPr>
            <a:xfrm>
              <a:off x="1672771" y="2168321"/>
              <a:ext cx="341186" cy="247200"/>
              <a:chOff x="7177314" y="1705428"/>
              <a:chExt cx="341186" cy="247200"/>
            </a:xfrm>
          </p:grpSpPr>
          <p:cxnSp>
            <p:nvCxnSpPr>
              <p:cNvPr id="197" name="Google Shape;197;p6"/>
              <p:cNvCxnSpPr/>
              <p:nvPr/>
            </p:nvCxnSpPr>
            <p:spPr>
              <a:xfrm>
                <a:off x="7177314" y="1872343"/>
                <a:ext cx="101600" cy="72572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  <p:cxnSp>
            <p:nvCxnSpPr>
              <p:cNvPr id="198" name="Google Shape;198;p6"/>
              <p:cNvCxnSpPr/>
              <p:nvPr/>
            </p:nvCxnSpPr>
            <p:spPr>
              <a:xfrm rot="10800000" flipH="1">
                <a:off x="7264400" y="1705428"/>
                <a:ext cx="254100" cy="24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</p:grpSp>
        <p:grpSp>
          <p:nvGrpSpPr>
            <p:cNvPr id="199" name="Google Shape;199;p6"/>
            <p:cNvGrpSpPr/>
            <p:nvPr/>
          </p:nvGrpSpPr>
          <p:grpSpPr>
            <a:xfrm>
              <a:off x="1676400" y="2475671"/>
              <a:ext cx="341086" cy="247199"/>
              <a:chOff x="7177314" y="1705429"/>
              <a:chExt cx="341086" cy="247199"/>
            </a:xfrm>
          </p:grpSpPr>
          <p:cxnSp>
            <p:nvCxnSpPr>
              <p:cNvPr id="200" name="Google Shape;200;p6"/>
              <p:cNvCxnSpPr/>
              <p:nvPr/>
            </p:nvCxnSpPr>
            <p:spPr>
              <a:xfrm>
                <a:off x="7177314" y="1872343"/>
                <a:ext cx="101600" cy="72572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  <p:cxnSp>
            <p:nvCxnSpPr>
              <p:cNvPr id="201" name="Google Shape;201;p6"/>
              <p:cNvCxnSpPr/>
              <p:nvPr/>
            </p:nvCxnSpPr>
            <p:spPr>
              <a:xfrm rot="10800000" flipH="1">
                <a:off x="7264400" y="1705429"/>
                <a:ext cx="254000" cy="247199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</p:grpSp>
        <p:grpSp>
          <p:nvGrpSpPr>
            <p:cNvPr id="202" name="Google Shape;202;p6"/>
            <p:cNvGrpSpPr/>
            <p:nvPr/>
          </p:nvGrpSpPr>
          <p:grpSpPr>
            <a:xfrm>
              <a:off x="1672771" y="2780723"/>
              <a:ext cx="341186" cy="247200"/>
              <a:chOff x="7177314" y="1705428"/>
              <a:chExt cx="341186" cy="247200"/>
            </a:xfrm>
          </p:grpSpPr>
          <p:cxnSp>
            <p:nvCxnSpPr>
              <p:cNvPr id="203" name="Google Shape;203;p6"/>
              <p:cNvCxnSpPr/>
              <p:nvPr/>
            </p:nvCxnSpPr>
            <p:spPr>
              <a:xfrm>
                <a:off x="7177314" y="1872343"/>
                <a:ext cx="101600" cy="72572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  <p:cxnSp>
            <p:nvCxnSpPr>
              <p:cNvPr id="204" name="Google Shape;204;p6"/>
              <p:cNvCxnSpPr/>
              <p:nvPr/>
            </p:nvCxnSpPr>
            <p:spPr>
              <a:xfrm rot="10800000" flipH="1">
                <a:off x="7264400" y="1705428"/>
                <a:ext cx="254100" cy="24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87F8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</p:cxnSp>
        </p:grpSp>
      </p:grpSp>
      <p:pic>
        <p:nvPicPr>
          <p:cNvPr id="205" name="Google Shape;20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686" y="1396650"/>
            <a:ext cx="4610991" cy="367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308D5E4-CC7D-4A58-862D-36D27547B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1" name="Google Shape;211;p7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12" name="Google Shape;212;p7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" name="Google Shape;219;p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220" name="Google Shape;220;p7"/>
          <p:cNvGrpSpPr/>
          <p:nvPr/>
        </p:nvGrpSpPr>
        <p:grpSpPr>
          <a:xfrm>
            <a:off x="235668" y="1359402"/>
            <a:ext cx="8792983" cy="3448050"/>
            <a:chOff x="708725" y="1336350"/>
            <a:chExt cx="7715850" cy="3448050"/>
          </a:xfrm>
        </p:grpSpPr>
        <p:pic>
          <p:nvPicPr>
            <p:cNvPr id="221" name="Google Shape;221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66175" y="1336350"/>
              <a:ext cx="5258400" cy="327677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8725" y="1336350"/>
              <a:ext cx="2457450" cy="34480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B3FFED0-87B3-4E75-994A-F1D6CBB0C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8"/>
          <p:cNvGrpSpPr/>
          <p:nvPr/>
        </p:nvGrpSpPr>
        <p:grpSpPr>
          <a:xfrm>
            <a:off x="215153" y="869763"/>
            <a:ext cx="8890247" cy="2067200"/>
            <a:chOff x="185742" y="1287960"/>
            <a:chExt cx="8044528" cy="2067200"/>
          </a:xfrm>
        </p:grpSpPr>
        <p:sp>
          <p:nvSpPr>
            <p:cNvPr id="228" name="Google Shape;228;p8"/>
            <p:cNvSpPr/>
            <p:nvPr/>
          </p:nvSpPr>
          <p:spPr>
            <a:xfrm>
              <a:off x="6978450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 rot="10800000" flipH="1">
              <a:off x="1423250" y="1697050"/>
              <a:ext cx="5566500" cy="1243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 rot="10800000" flipH="1">
              <a:off x="6986470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</p:grpSp>
      <p:sp>
        <p:nvSpPr>
          <p:cNvPr id="233" name="Google Shape;233;p8"/>
          <p:cNvSpPr txBox="1">
            <a:spLocks noGrp="1"/>
          </p:cNvSpPr>
          <p:nvPr>
            <p:ph type="ctrTitle" idx="4294967295"/>
          </p:nvPr>
        </p:nvSpPr>
        <p:spPr>
          <a:xfrm>
            <a:off x="566159" y="1268781"/>
            <a:ext cx="8039100" cy="12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</a:pPr>
            <a:r>
              <a:rPr lang="en-US" sz="4000" b="1" i="0" u="none" strike="noStrike" cap="none" dirty="0">
                <a:solidFill>
                  <a:srgbClr val="3F537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Roboto Condensed"/>
              </a:rPr>
              <a:t>Milestones </a:t>
            </a:r>
            <a:r>
              <a:rPr lang="en-US" sz="4000" dirty="0">
                <a:solidFill>
                  <a:srgbClr val="3F53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en-US" sz="4000" b="1" i="0" u="none" strike="noStrike" cap="none" dirty="0">
                <a:solidFill>
                  <a:srgbClr val="3F537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Roboto Condensed"/>
              </a:rPr>
              <a:t> Summary </a:t>
            </a:r>
            <a:endParaRPr sz="4000" b="1" i="0" u="none" strike="noStrike" cap="none" dirty="0">
              <a:solidFill>
                <a:srgbClr val="3F5378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Roboto Condensed"/>
            </a:endParaRPr>
          </a:p>
        </p:txBody>
      </p:sp>
      <p:sp>
        <p:nvSpPr>
          <p:cNvPr id="235" name="Google Shape;235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043FB-16BF-4EBA-BFD4-EF7B67D01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5FF1E4-D74F-475C-9EAA-AF5B6FCB17A3}"/>
              </a:ext>
            </a:extLst>
          </p:cNvPr>
          <p:cNvSpPr txBox="1"/>
          <p:nvPr/>
        </p:nvSpPr>
        <p:spPr>
          <a:xfrm>
            <a:off x="566159" y="2936963"/>
            <a:ext cx="457584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tabLst/>
              <a:defRPr/>
            </a:pPr>
            <a:r>
              <a:rPr lang="en-US" b="1" dirty="0">
                <a:solidFill>
                  <a:srgbClr val="263248"/>
                </a:solidFill>
                <a:latin typeface="Times New Roman" panose="02020603050405020304" pitchFamily="18" charset="0"/>
                <a:ea typeface="Roboto Condensed Light"/>
                <a:cs typeface="Times New Roman" panose="02020603050405020304" pitchFamily="18" charset="0"/>
                <a:sym typeface="Roboto Condensed Light"/>
              </a:rPr>
              <a:t>Learning Swift Platform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63248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 Light"/>
                <a:cs typeface="Times New Roman" panose="02020603050405020304" pitchFamily="18" charset="0"/>
                <a:sym typeface="Roboto Condensed Light"/>
              </a:rPr>
              <a:t>R&amp;D of Io</a:t>
            </a:r>
            <a:r>
              <a:rPr lang="en-US" b="1" dirty="0">
                <a:solidFill>
                  <a:srgbClr val="263248"/>
                </a:solidFill>
                <a:latin typeface="Times New Roman" panose="02020603050405020304" pitchFamily="18" charset="0"/>
                <a:ea typeface="Roboto Condensed Light"/>
                <a:cs typeface="Times New Roman" panose="02020603050405020304" pitchFamily="18" charset="0"/>
                <a:sym typeface="Roboto Condensed Light"/>
              </a:rPr>
              <a:t>T Sensors for Vehicles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tabLst/>
              <a:defRPr/>
            </a:pPr>
            <a:r>
              <a:rPr lang="en-US" b="1" dirty="0">
                <a:solidFill>
                  <a:srgbClr val="263248"/>
                </a:solidFill>
                <a:latin typeface="Times New Roman" panose="02020603050405020304" pitchFamily="18" charset="0"/>
                <a:ea typeface="Roboto Condensed Light"/>
                <a:cs typeface="Times New Roman" panose="02020603050405020304" pitchFamily="18" charset="0"/>
                <a:sym typeface="Roboto Condensed Light"/>
              </a:rPr>
              <a:t>Complete Design Flow 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tabLst/>
              <a:defRPr/>
            </a:pPr>
            <a:r>
              <a:rPr lang="en-US" b="1" dirty="0">
                <a:solidFill>
                  <a:srgbClr val="263248"/>
                </a:solidFill>
                <a:latin typeface="Times New Roman" panose="02020603050405020304" pitchFamily="18" charset="0"/>
                <a:ea typeface="Roboto Condensed Light"/>
                <a:cs typeface="Times New Roman" panose="02020603050405020304" pitchFamily="18" charset="0"/>
                <a:sym typeface="Roboto Condensed Light"/>
              </a:rPr>
              <a:t>Sensor Data Simulation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tabLst/>
              <a:defRPr/>
            </a:pPr>
            <a:r>
              <a:rPr lang="en-US" b="1" dirty="0">
                <a:solidFill>
                  <a:srgbClr val="263248"/>
                </a:solidFill>
                <a:latin typeface="Times New Roman" panose="02020603050405020304" pitchFamily="18" charset="0"/>
                <a:ea typeface="Roboto Condensed Light"/>
                <a:cs typeface="Times New Roman" panose="02020603050405020304" pitchFamily="18" charset="0"/>
                <a:sym typeface="Roboto Condensed Light"/>
              </a:rPr>
              <a:t>Dashboard and UI on Swift App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tabLst/>
              <a:defRPr/>
            </a:pPr>
            <a:r>
              <a:rPr lang="en-US" b="1" dirty="0">
                <a:solidFill>
                  <a:srgbClr val="263248"/>
                </a:solidFill>
                <a:latin typeface="Times New Roman" panose="02020603050405020304" pitchFamily="18" charset="0"/>
                <a:ea typeface="Roboto Condensed Light"/>
                <a:cs typeface="Times New Roman" panose="02020603050405020304" pitchFamily="18" charset="0"/>
                <a:sym typeface="Roboto Condensed Light"/>
              </a:rPr>
              <a:t>Interfaces Created on Swift App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tabLst/>
              <a:defRPr/>
            </a:pPr>
            <a:r>
              <a:rPr lang="en-US" b="1" dirty="0">
                <a:solidFill>
                  <a:srgbClr val="263248"/>
                </a:solidFill>
                <a:latin typeface="Times New Roman" panose="02020603050405020304" pitchFamily="18" charset="0"/>
                <a:ea typeface="Roboto Condensed Light"/>
                <a:cs typeface="Times New Roman" panose="02020603050405020304" pitchFamily="18" charset="0"/>
                <a:sym typeface="Roboto Condensed Light"/>
              </a:rPr>
              <a:t>Alerts Generation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tabLst/>
              <a:defRPr/>
            </a:pPr>
            <a:endParaRPr lang="en-US" b="1" dirty="0">
              <a:solidFill>
                <a:srgbClr val="263248"/>
              </a:solidFill>
              <a:latin typeface="Times New Roman" panose="02020603050405020304" pitchFamily="18" charset="0"/>
              <a:ea typeface="Roboto Condensed Light"/>
              <a:cs typeface="Times New Roman" panose="02020603050405020304" pitchFamily="18" charset="0"/>
              <a:sym typeface="Roboto Condensed Light"/>
            </a:endParaRP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63248"/>
              </a:solidFill>
              <a:effectLst/>
              <a:uLnTx/>
              <a:uFillTx/>
              <a:latin typeface="Times New Roman" panose="02020603050405020304" pitchFamily="18" charset="0"/>
              <a:ea typeface="Roboto Condensed Light"/>
              <a:cs typeface="Times New Roman" panose="02020603050405020304" pitchFamily="18" charset="0"/>
              <a:sym typeface="Roboto Condensed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1E45C-2ABB-4D7B-A43F-0D7DFD582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9D53D-4EDD-43AA-B402-34AB2A6C157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0A6A01-12BE-4938-A843-DB04EBCDE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742"/>
            <a:ext cx="9144000" cy="467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73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1E45C-2ABB-4D7B-A43F-0D7DFD582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9D53D-4EDD-43AA-B402-34AB2A6C157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A526A-420B-4CA1-B392-C8F8C6D2B6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369"/>
          <a:stretch/>
        </p:blipFill>
        <p:spPr>
          <a:xfrm>
            <a:off x="192505" y="421687"/>
            <a:ext cx="6458552" cy="421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3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1E45C-2ABB-4D7B-A43F-0D7DFD582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9D53D-4EDD-43AA-B402-34AB2A6C157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090FE7-FFF2-4E24-9245-E9BFBD82E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350"/>
            <a:ext cx="9144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58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1E45C-2ABB-4D7B-A43F-0D7DFD582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9D53D-4EDD-43AA-B402-34AB2A6C157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CD5DFF-9AB0-4468-A36A-10FA1EC8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3" y="664142"/>
            <a:ext cx="8963612" cy="389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34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PLANS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Google Shape;241;p17"/>
          <p:cNvSpPr txBox="1">
            <a:spLocks noGrp="1"/>
          </p:cNvSpPr>
          <p:nvPr>
            <p:ph type="body" idx="1"/>
          </p:nvPr>
        </p:nvSpPr>
        <p:spPr>
          <a:xfrm>
            <a:off x="282216" y="1871331"/>
            <a:ext cx="8408426" cy="260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for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historical data and sensor readings to predict potential vehicle issues.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Anomaly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abnormal vehicle behavior (e.g., temperature spikes, efficiency drops).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users in real-time to prevent further damage and ensure safety.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ERP Ticket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 ERP tickets when maintenance issues are detected.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detailed diagnostics and prioritize tickets based on issue severity.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Solution Demonstration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the entire process from sensor data collection to ERP ticket 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seamless integration between vehicle monitoring, AI predictions, and maintenance.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Demo &amp; Launch 🚀</a:t>
            </a:r>
          </a:p>
        </p:txBody>
      </p:sp>
      <p:sp>
        <p:nvSpPr>
          <p:cNvPr id="242" name="Google Shape;242;p1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3" name="Google Shape;243;p17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4" name="Google Shape;244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A4C24C2-CE6E-41E5-8F3A-7D88E25A0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>
            <a:spLocks noGrp="1"/>
          </p:cNvSpPr>
          <p:nvPr>
            <p:ph type="body" idx="1"/>
          </p:nvPr>
        </p:nvSpPr>
        <p:spPr>
          <a:xfrm>
            <a:off x="484059" y="1387871"/>
            <a:ext cx="3766851" cy="345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HUZAIFA NASEER KHAN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3A5172"/>
              </a:solidFill>
              <a:effectLst/>
              <a:uLnTx/>
              <a:uFillTx/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21067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3A5172"/>
              </a:solidFill>
              <a:effectLst/>
              <a:uLnTx/>
              <a:uFillTx/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API integration (Google Maps)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Map view for vehicle locations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Mock sensor data simulation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Status simulation (e.g., overheating)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Coordination with IA and supervisor</a:t>
            </a:r>
          </a:p>
          <a:p>
            <a:pPr marL="342900" lvl="0" indent="-215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sz="1800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342900" lvl="0" indent="-215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sz="1800" dirty="0"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title"/>
          </p:nvPr>
        </p:nvSpPr>
        <p:spPr>
          <a:xfrm>
            <a:off x="814276" y="410332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INDIVIDUAL’S CONTRIBUTION IN ACHIEVING MILESTONES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5" name="Google Shape;255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56" name="Google Shape;256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265" name="Google Shape;265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6" name="Google Shape;266;p18"/>
          <p:cNvCxnSpPr/>
          <p:nvPr/>
        </p:nvCxnSpPr>
        <p:spPr>
          <a:xfrm>
            <a:off x="4665912" y="1532756"/>
            <a:ext cx="0" cy="3163300"/>
          </a:xfrm>
          <a:prstGeom prst="straightConnector1">
            <a:avLst/>
          </a:prstGeom>
          <a:noFill/>
          <a:ln w="9525" cap="flat" cmpd="sng">
            <a:solidFill>
              <a:srgbClr val="3B507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590F826-59B1-49FB-8A38-C95576883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23" name="Google Shape;253;p18">
            <a:extLst>
              <a:ext uri="{FF2B5EF4-FFF2-40B4-BE49-F238E27FC236}">
                <a16:creationId xmlns:a16="http://schemas.microsoft.com/office/drawing/2014/main" id="{52132D56-B6E2-430B-AE44-1E53EB891157}"/>
              </a:ext>
            </a:extLst>
          </p:cNvPr>
          <p:cNvSpPr txBox="1">
            <a:spLocks/>
          </p:cNvSpPr>
          <p:nvPr/>
        </p:nvSpPr>
        <p:spPr>
          <a:xfrm>
            <a:off x="5161996" y="1387871"/>
            <a:ext cx="3766851" cy="345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101600" indent="0" algn="ctr">
              <a:buNone/>
            </a:pP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MUZAMMIL RIZVI</a:t>
            </a:r>
            <a:b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</a:b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21089</a:t>
            </a:r>
            <a:endParaRPr lang="en-US"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Sensor data integration into DB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Webhooks for real-time updates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Dynamic view forms &amp; filtering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Dropdowns for predefined values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Action forms for status updates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Reassign sensors to vehicles</a:t>
            </a:r>
          </a:p>
          <a:p>
            <a:pPr marL="342900" indent="-215900">
              <a:buFont typeface="Noto Sans Symbols"/>
              <a:buNone/>
            </a:pPr>
            <a:endParaRPr lang="en-US" sz="1800" dirty="0"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>
            <a:spLocks noGrp="1"/>
          </p:cNvSpPr>
          <p:nvPr>
            <p:ph type="body" idx="1"/>
          </p:nvPr>
        </p:nvSpPr>
        <p:spPr>
          <a:xfrm>
            <a:off x="446241" y="1387871"/>
            <a:ext cx="4031847" cy="345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WAHAJ RAZA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21055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Define object structures in DB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ER &amp; Architecture Diagrams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Swift workflows (create/update/delete/read)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Webhooks for alerts &amp; notifications 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Real-time graph for status data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Middleware-DB-frontend integration</a:t>
            </a:r>
            <a:endParaRPr sz="1800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342900" lvl="0" indent="-215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sz="1800" dirty="0"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title"/>
          </p:nvPr>
        </p:nvSpPr>
        <p:spPr>
          <a:xfrm>
            <a:off x="814276" y="410332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INDIVIDUAL’S CONTRIBUTION IN ACHIEVING MILESTONES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5" name="Google Shape;255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56" name="Google Shape;256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265" name="Google Shape;265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6" name="Google Shape;266;p18"/>
          <p:cNvCxnSpPr/>
          <p:nvPr/>
        </p:nvCxnSpPr>
        <p:spPr>
          <a:xfrm>
            <a:off x="4665912" y="1532756"/>
            <a:ext cx="0" cy="3163300"/>
          </a:xfrm>
          <a:prstGeom prst="straightConnector1">
            <a:avLst/>
          </a:prstGeom>
          <a:noFill/>
          <a:ln w="9525" cap="flat" cmpd="sng">
            <a:solidFill>
              <a:srgbClr val="3B507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590F826-59B1-49FB-8A38-C95576883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23" name="Google Shape;253;p18">
            <a:extLst>
              <a:ext uri="{FF2B5EF4-FFF2-40B4-BE49-F238E27FC236}">
                <a16:creationId xmlns:a16="http://schemas.microsoft.com/office/drawing/2014/main" id="{52132D56-B6E2-430B-AE44-1E53EB891157}"/>
              </a:ext>
            </a:extLst>
          </p:cNvPr>
          <p:cNvSpPr txBox="1">
            <a:spLocks/>
          </p:cNvSpPr>
          <p:nvPr/>
        </p:nvSpPr>
        <p:spPr>
          <a:xfrm>
            <a:off x="5161996" y="1387871"/>
            <a:ext cx="3766851" cy="345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FARRUKH NIAZ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3A5172"/>
              </a:solidFill>
              <a:effectLst/>
              <a:uLnTx/>
              <a:uFillTx/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21064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3A5172"/>
              </a:solidFill>
              <a:effectLst/>
              <a:uLnTx/>
              <a:uFillTx/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Arial"/>
            </a:endParaRP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Widget for alerts/notifications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Middleware for preprocessing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Ensure accurate data forwarding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Project flow/timeline diagrams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View &amp; Entry forms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Input validation mechanisms</a:t>
            </a:r>
            <a:endParaRPr lang="en-US" sz="1800" dirty="0"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7369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Google Shape;273;p19"/>
          <p:cNvSpPr txBox="1">
            <a:spLocks noGrp="1"/>
          </p:cNvSpPr>
          <p:nvPr>
            <p:ph type="ctrTitle" idx="4294967295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</a:pPr>
            <a:r>
              <a:rPr lang="en-US" sz="6000" b="1" i="0" u="none" strike="noStrike" cap="none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Roboto Condensed"/>
              </a:rPr>
              <a:t>THANK YOU!</a:t>
            </a:r>
            <a:endParaRPr sz="6000" b="1" i="0" u="none" strike="noStrike" cap="none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Roboto Condensed"/>
            </a:endParaRPr>
          </a:p>
        </p:txBody>
      </p:sp>
      <p:sp>
        <p:nvSpPr>
          <p:cNvPr id="274" name="Google Shape;274;p19"/>
          <p:cNvSpPr txBox="1">
            <a:spLocks noGrp="1"/>
          </p:cNvSpPr>
          <p:nvPr>
            <p:ph type="subTitle" idx="4294967295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Roboto Condensed Light"/>
              </a:rPr>
              <a:t>Any questions?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Roboto Condensed Light"/>
            </a:endParaRPr>
          </a:p>
        </p:txBody>
      </p:sp>
      <p:grpSp>
        <p:nvGrpSpPr>
          <p:cNvPr id="275" name="Google Shape;275;p19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276" name="Google Shape;276;p19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8BA9E2B-75A0-421C-9295-44C9FF32B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9" name="Picture 2" descr="Ephlux - Connected Customer Experience | JD Edwards | Internet of Things |  Machine Learning | Industry 4.0">
            <a:extLst>
              <a:ext uri="{FF2B5EF4-FFF2-40B4-BE49-F238E27FC236}">
                <a16:creationId xmlns:a16="http://schemas.microsoft.com/office/drawing/2014/main" id="{70A4E52F-1965-40E7-A6EB-E67526F0A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006" y="191400"/>
            <a:ext cx="817988" cy="81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532</Words>
  <Application>Microsoft Office PowerPoint</Application>
  <PresentationFormat>On-screen Show (16:9)</PresentationFormat>
  <Paragraphs>126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Times New Roman</vt:lpstr>
      <vt:lpstr>Calibri</vt:lpstr>
      <vt:lpstr>Roboto Condensed</vt:lpstr>
      <vt:lpstr>Roboto Condensed Light</vt:lpstr>
      <vt:lpstr>Noto Sans Symbols</vt:lpstr>
      <vt:lpstr>Arvo</vt:lpstr>
      <vt:lpstr>Salerio template</vt:lpstr>
      <vt:lpstr>Smart Asset Tracking and Predictive Maintenance System for Flight Catering Project ID  : 20   Internal Advisor ~ Dr Shahab Tehzeeb</vt:lpstr>
      <vt:lpstr>GROUP MEMBERS</vt:lpstr>
      <vt:lpstr>PROJECT BACKGROUND</vt:lpstr>
      <vt:lpstr>PROJECT INTRODUCTION</vt:lpstr>
      <vt:lpstr>FLOW OF THE PROJECT</vt:lpstr>
      <vt:lpstr>ER DIAGRAM</vt:lpstr>
      <vt:lpstr>PROJECT FLOW DIAGRAM</vt:lpstr>
      <vt:lpstr>PowerPoint Presentation</vt:lpstr>
      <vt:lpstr>MILESTONES ACHEIVED</vt:lpstr>
      <vt:lpstr>GANTT CHART</vt:lpstr>
      <vt:lpstr>Milestones Achieved Summary </vt:lpstr>
      <vt:lpstr>PowerPoint Presentation</vt:lpstr>
      <vt:lpstr>PowerPoint Presentation</vt:lpstr>
      <vt:lpstr>PowerPoint Presentation</vt:lpstr>
      <vt:lpstr>PowerPoint Presentation</vt:lpstr>
      <vt:lpstr>FUTURE PLANS</vt:lpstr>
      <vt:lpstr>INDIVIDUAL’S CONTRIBUTION IN ACHIEVING MILESTONES</vt:lpstr>
      <vt:lpstr>INDIVIDUAL’S CONTRIBUTION IN ACHIEVING MILESTONES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Asset Tracking and Predictive Maintenance System for Flight Catering Project ID  : 20   Internal Advisor ~ Dr Shahab Tehzeeb</dc:title>
  <cp:lastModifiedBy>Wahaj Raza</cp:lastModifiedBy>
  <cp:revision>12</cp:revision>
  <dcterms:modified xsi:type="dcterms:W3CDTF">2024-12-15T15:43:04Z</dcterms:modified>
</cp:coreProperties>
</file>